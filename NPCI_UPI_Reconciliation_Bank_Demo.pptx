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AUTOMATIONEDGE OPERATIONS WORKBENCH</a:t>
            </a:r>
          </a:p>
          <a:p>
            <a:pPr>
              <a:spcBef>
                <a:spcPts val="1200"/>
              </a:spcBef>
              <a:defRPr sz="3400" b="1">
                <a:solidFill>
                  <a:srgbClr val="FFFFFF"/>
                </a:solidFill>
              </a:defRPr>
            </a:pPr>
            <a:r>
              <a:t>NPCI UPI 4-Way Reconciliation &amp;</a:t>
            </a:r>
            <a:br/>
            <a:r>
              <a:t>Autonomous Exception Management</a:t>
            </a:r>
          </a:p>
          <a:p>
            <a:pPr>
              <a:spcBef>
                <a:spcPts val="1600"/>
              </a:spcBef>
              <a:defRPr sz="1600">
                <a:solidFill>
                  <a:srgbClr val="E2E8F0"/>
                </a:solidFill>
              </a:defRPr>
            </a:pPr>
            <a:r>
              <a:t>End-to-End Banking Demonstration: Process Studio RPA + Recon Engine + Agentic AI + HITL Controls</a:t>
            </a:r>
          </a:p>
          <a:p>
            <a:pPr>
              <a:spcBef>
                <a:spcPts val="2400"/>
              </a:spcBef>
              <a:defRPr sz="1200">
                <a:solidFill>
                  <a:srgbClr val="64748B"/>
                </a:solidFill>
              </a:defRPr>
            </a:pPr>
            <a:r>
              <a:t>RBI T+1 Harmonisation Compliance | Multi-Leg Financial Zero-Delta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EXECUTIVE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UPI Reconciliation Challenge for Banks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1. Massive Transaction Velocity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VOLUME PRESSURE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UPI generates over 14+ Billion monthly transactions across India.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Hourly settlement cycles demand ultra-fast reconciliation under tight cut-offs.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Legacy manual batch tools and Excel models buckle under peak cycle volumes.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In-flight transitions between cycles create timing gaps and phantom breaks.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2. 4-System Fragmentation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ARCHITECTURAL COMPLEXITY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Recon requires matching 4 asynchronous enterprise systems: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1. NPCI Master Settlement (Clearing)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2. Payment Switch Base24 (Auth)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3. Core Banking Finacle (Ledger debit)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4. General Ledger Suspense (Pools)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System clock drift and delayed log dumps prevent instant straight-through 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3. Regulatory Penalty Risk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COMPLIANCE &amp; FINANCIAL DRAG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RBI Circular on TAT &amp; Customer Compensation imposes strict T+1 rules.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Delayed customer refunds trigger statutory Rs 100/day penalties per transaction.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Deemed failures (customer debited, beneficiary bank timed out) require rapid action.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Unbalanced GL suspense accounts attract RBI audit scrutiny and capital drag.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ARCHITECTURE &amp; EXECUTION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NPCI Unified Workbench: 6-Stage Autonomous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1089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Stage 1: Ingestion &amp; Validation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INTAKE GATE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SFTP Watcher &amp; Bot intake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SHA-256 deduplication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Schema &amp; cycle validation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Vault staging &amp; quarantine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72768"/>
            <a:ext cx="31089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Stage 2: 4-Way Recon Engine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MATCHING CORE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NPCI vs CBS vs Switch vs GL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Deterministic RRN match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- 95%+ STP auto-settled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Break queue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72768"/>
            <a:ext cx="31089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Stage 3: AI Investigation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AGENTIC AI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Multi-system log trace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Gateway code analysis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Root cause diagnostics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RBI T+1 timer 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41648"/>
            <a:ext cx="31089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Stage 4: Case &amp; Dossier Assembly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CASE PACKAGING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Multi-leg evidence pack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- 94%+ confidence score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Policy threshold check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Recommended CBS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41648"/>
            <a:ext cx="31089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Stage 5: Approval &amp; Execution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DUAL-TRACK GATE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&lt; Rs 5,000 auto-approved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&gt; Rs 10,000 HITL cockpit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CBS reversal execution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GL suspense rebalancing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041648"/>
            <a:ext cx="31089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Stage 6: Audit &amp; Control Tower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GRC GOVERNANCE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Cryptographic audit pack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Tamper-proof call logs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RBI inspection ready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Executive TAT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RPA &amp; WORKFLOW ENGINE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Role of AutomationEdge Server &amp; Process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Inbound SFTP &amp; File Ingestion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FEED INGESTION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AE Process (.psp) triggers scheduled file monitoring workflows.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Automates SFTP download of NPCI clearing files, Switch dumps, and CBS logs.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Passes runtime parameters (file paths, cycle IDs, settlement windows) down to workflows.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Safely handles unescaped paths and formats into standard work directories.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4-Way Merge &amp; Rule Evaluation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WORKFLOW LOGIC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AE Workflow (.psw) performs high-speed in-memory Sort Rows &amp; Merge Join.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Executes deterministic multi-leg alignment across NPCI, Base24, Finacle, and GL.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Modified JavaScript (MJS) step evaluates business rules and classifies transactions.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Separates records into Matched STP vs Exception Break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Batch Output &amp; API Integration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DATA DISPATCH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Outputs partitioned files into Matched_Records/ and Unmatched_Records/.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Supports universal formats: Excel (XLSX, XLS BIFF8) and Text (CSV, TSV, DAT).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REST Client step posts execution summaries to the Workbench Portal.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Multi-batch accumulation allows incremental batch runs without duplication.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DATA SOURCES &amp; SCHEMA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4 Operational Legs in Multi-Rail Reconciliation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219456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Leg 1: NPCI Master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CLEARING MASTER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Source: NPCI Clearing Portal.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Format: Raw settlement CSV / DAT.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Key Fields: RRN, NPCI_AMOUNT, NPCI_STATUS, CYCLE_ID, UTR.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Role: Legal inter-bank settlement authority; definitive record of net cleared funds.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572768"/>
            <a:ext cx="219456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Leg 2: Switch Logs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SWITCH GATEWAY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Source: Base24 / Payment Switch.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Format: ISO8583 / Switch export.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Key Fields: RRN, SWITCH_STATUS, SWITCH_RESP_CODE (00, 91, 13).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Role: Proves remitter authorization and beneficiary switch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219456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Leg 3: Core Banking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CBS LEDGER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Source: Finacle / Flexcube CBS.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Format: Daily transaction ledger dump.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Key Fields: RRN, CBS_AMOUNT, CBS_STATUS (DEBITED, PENDING), ACCOUNT_NO.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Role: Proves customer account debit or credit posting.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572768"/>
            <a:ext cx="219456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Leg 4: General Ledger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GL SUSPENSE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Source: General Ledger Suspense.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Format: Clearing pool journal balance.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Key Fields: RRN, GL_AMOUNT, GL_STATUS (POSTED, UNBALANCED).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Role: Validates internal bank suspense pool zero-variance.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MATCHING RULES &amp; CLASSIFICATION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Reconciliation Criteria &amp; Deterministic Logic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Primary Matching Key &amp; Equality Criteria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MATCHING RULES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1. Primary Key Alignment: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Retrieval Reference Number (RRN) is the universal 12-digit key.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RRN_NPCI == RRN_SWITCH == RRN_CBS == RRN_GL.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2. Financial Amount Zero-Delta Rule: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NPCI_AMOUNT == CBS_AMOUNT == GL_AMOUNT.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Variance = CBS_AMOUNT - NPCI_AMOUNT == 0.00.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3. Status Agreement Rule: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NPCI: SUCCESS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Switch: AUTHORIZED (Resp Code 00)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CBS: DEBITED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GL: POSTED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-&gt; All 4 systems confirm agreement: MATCHED STP.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72768"/>
            <a:ext cx="48463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Outcome Buckets &amp; Classification Rules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CLASSIFICATION RULES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Bucket 1: Matched STP (Straight-Through):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All 4 legs match on keys, financial amounts, and status.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Instant straight-through closure (no human involvement).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Bucket 2: In-Flight Timing Differences: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Switch authorized, but settlement crosses cycle cut-off window.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Auto-deferred to next cycle roll-forward check.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Bucket 3: Unmatched Exception Breaks: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Discrepancy in status, missing legs, or financial variance != 0.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Dispatched immediately to Stage 3 AI Investigation Agent.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 - RBI T+1 penalty countdown clock starts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AI ROOT-CAUSE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Exception Scenarios &amp; Autonomous Resolution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CBS Debit, NPCI Failure (P1 Critical)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SCENARIO: CBS_DEBIT_NPCI_FAIL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Symptom: Customer account DEBITED, but Switch declined / NPCI failed.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Root Cause: Beneficiary switch timeout (Code 91) after remitter CBS debited.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Resolution: Immediate automated CBS refund to customer within T+1.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RBI Risk: High (statutory compensation of Rs 100/day if delayed).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72768"/>
            <a:ext cx="484632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NPCI Success, CBS Pending/Failed (P1)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SCENARIO: NPCI_SUCCESS_CBS_PENDING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Symptom: NPCI settled interbank, but CBS leg failed or pending.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Root Cause: Internal bank CBS network timeout during settlement posting.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Resolution: Force credit to merchant / debit customer to balance settlement.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RBI Risk: High (Inter-bank settlement gap).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484632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Financial Amount Mismatch (P1 Critical)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SCENARIO: AMOUNT_MISMATCH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Symptom: NPCI amount != CBS posted amount (e.g. Rs 500 vs Rs 550; delta Rs 50).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Root Cause: Decimal truncation or partial switch debit execution.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Resolution: Book adjusting journal entry between CBS and GL suspense pool.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RBI Risk: Medium-High (Financial books out of balance).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041648"/>
            <a:ext cx="484632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Deemed Fail / Beneficiary Not Found (P2)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SCENARIO: BENEFICIARY_NOT_FOUND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Symptom: Beneficiary bank returns invalid IFSC or closed account.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Root Cause: Target account inactive; funds returned to remitter pool.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Resolution: Post reversal credit to remitter and close ticket.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RBI Risk: Low (Standard automated operational handling).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MAKER-CHECKER CONTROLS &amp; RISK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Human-in-the-Loop (HITL) Governance &amp;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Dual-Track Risk Routing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POLICY THRESHOLDS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Automated risk-tier separation: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Track 1: Low-Risk (&lt; Rs 5,000 &amp; P2):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- Auto-approved by rule policy.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- RPA bot executes reversal immediately.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Track 2: High-Value (&gt; Rs 10,000 or P1):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- Routed to Operations Cockpit.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  - Requires 4-eyes Maker-Checker sign-off before CBS ledger update.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AI Evidence Dossier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INVESTIGATION DOSSIER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Generated automatically for every exception: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- 4-Leg comparison side-by-side.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- Extracted error codes and timestamps.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- AI Root-Cause Diagnostic with 94%+ confidence score.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- Recommended accounting entry and reversal action ready for 1-click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T+1 SLA Countdown Clocks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REGULATORY CLOCKS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Real-time regulatory compliance timers: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- Visual countdown timer showing hours remaining until T+1 cut-off.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- Priority badge (P1 Critical vs P2 Moderate).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- Escalation alerts before penalty clock triggers.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- Protects bank from customer dispute escalations and RBI penalties.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STEP-BY-STEP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Monday Live Demonstration Walkthrough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Part 1: Inbound Feeds &amp; Studio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STEPS 1 - 2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1. Open Workbench Dashboard (http://localhost:5173).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2. Point out 4 Inbound Systems (NPCI, Switch, CBS, GL).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3. Click Download CSV buttons on the cards to show real source feeds.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4. Switch to Process Studio: Show WF_Matched_Unmatched_Records.psw executing 4-way merge join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Part 2: Real-Time Recon Sync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STEPS 3 - 4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5. Switch back to Workbench: Show real-time sync (within 4 seconds).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- 6. Point out Bucket 1 (Matched STP) vs Bucket 3 (Breaks).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- 7. Click Matched STP tab: Show clean Rs 840 matched payment.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- 8. Click All Breaks tab: Show 4 classified breaks with source batch badge.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72768"/>
            <a:ext cx="301752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Part 3: AI Dossier &amp; HITL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STEPS 5 - 6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- 9. Click Inspect on CBS_DEBIT_NPCI_FAIL: Show multi-leg trace and AI dossier.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- 10. Highlight T+1 countdown clock and RBI penalty prevention.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- 11. Navigate to HITL Cockpit: Demonstrate 1-click Approve Reversal.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- 12. Show Audit Trail: Immutable tamper-proof record generated.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BUSINESS IMPACT &amp; QUANTIFIABLE ROI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</a:defRPr>
            </a:pPr>
            <a:r>
              <a:t>Measurable Value Proposition for Bank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38528"/>
            <a:ext cx="219456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95%+ STP Rate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OPERATIONAL SPEED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Over 95% of transactions clear automatically with zero manual touch.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Reconciliation cycles shrink from hours to seconds.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Allows bank to scale transaction volume without hiring ops headcount.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938528"/>
            <a:ext cx="219456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Zero RBI Penalties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REGULATORY SHIELD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Strict T+1 SLA clocks prevent customer compensation fines (Rs 100/day).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Automated customer refund posting eliminates delayed dispute aging.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- 100% compliance with RBI Harmonisation directives.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38528"/>
            <a:ext cx="219456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80% Effort Saved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COST EFFICIENCY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Eliminates manual VLOOKUPs, phone calls, and cross-system swivel chairing.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Autonomous AI pre-diagnoses root causes and drafts ledger journal entries.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Frees operations team to focus only on high-value exceptions.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938528"/>
            <a:ext cx="219456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Inspection Ready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00" b="1">
                <a:solidFill>
                  <a:srgbClr val="EA580C"/>
                </a:solidFill>
              </a:defRPr>
            </a:pPr>
            <a:r>
              <a:t>AUDIT ASSURANCE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Cryptographically signed audit trail with timestamps and approval logs.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One-click export of RBI inspection evidence packs.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</a:defRPr>
            </a:pPr>
            <a:r>
              <a:t>- Complete transparency across all internal and external payment legs.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END-TO-END PROCESS ARCHITECTURE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NPCI Unified Operations Workbench - To-Be Process Flow</a:t>
            </a:r>
          </a:p>
        </p:txBody>
      </p:sp>
      <p:pic>
        <p:nvPicPr>
          <p:cNvPr id="4" name="Picture 3" descr="NPCI_Unified_Workbench_ToBe_Process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