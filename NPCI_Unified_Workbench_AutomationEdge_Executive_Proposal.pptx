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NPCI Unified
Operations Workbench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94436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Agentic AI + RPA + Reconciliation + GRC + MIS + Human-in-the-Loop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Executive Approval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5532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FFFFFF"/>
                </a:solidFill>
                <a:latin typeface="Aptos"/>
              </a:rPr>
              <a:t>For Large Private-Sector Bank COO / CIO / Payments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96012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1C1C"/>
                </a:solidFill>
                <a:latin typeface="Aptos"/>
              </a:rPr>
              <a:t>Transform NPCI operations from fragmented processing to an intelligent control tower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1627632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C8460A"/>
                </a:solidFill>
                <a:latin typeface="Aptos"/>
              </a:rPr>
              <a:t>UPI • IMPS • NACH • AePS • RuPay • CTS • BBPS • NETC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240280"/>
            <a:ext cx="31546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240280"/>
            <a:ext cx="50292" cy="98755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313432"/>
            <a:ext cx="2953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activities assessed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569464"/>
            <a:ext cx="2953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60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2240280"/>
            <a:ext cx="31546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2240280"/>
            <a:ext cx="50292" cy="98755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36992" y="2313432"/>
            <a:ext cx="2953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NPCI rails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2569464"/>
            <a:ext cx="2953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502152"/>
            <a:ext cx="31546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3502152"/>
            <a:ext cx="50292" cy="98755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3575304"/>
            <a:ext cx="2953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specialist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3831336"/>
            <a:ext cx="2953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3502152"/>
            <a:ext cx="31546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18120" y="3502152"/>
            <a:ext cx="50292" cy="98755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36992" y="3575304"/>
            <a:ext cx="2953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controlled decisions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3831336"/>
            <a:ext cx="2953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HITL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50749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Aptos"/>
              </a:rPr>
              <a:t>Prepared by: AutomationEdge Solution Consulting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5413248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70" b="0">
                <a:solidFill>
                  <a:srgbClr val="6E6E6E"/>
                </a:solidFill>
                <a:latin typeface="Aptos"/>
              </a:rPr>
              <a:t>October 2026 | Confidential | Illustrative business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Executive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Why now, what is proposed, and what leadership approval is requested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9144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C1C"/>
                </a:solidFill>
                <a:latin typeface="Aptos"/>
              </a:rPr>
              <a:t>Leadership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280160"/>
            <a:ext cx="6400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60">
                <a:solidFill>
                  <a:srgbClr val="464646"/>
                </a:solidFill>
                <a:latin typeface="Aptos"/>
              </a:defRPr>
            </a:pPr>
            <a:r>
              <a:t>Approve an enterprise NPCI Operations Automation program using one reusable workbench.</a:t>
            </a:r>
          </a:p>
          <a:p>
            <a:pPr>
              <a:spcAft>
                <a:spcPts val="500"/>
              </a:spcAft>
              <a:defRPr sz="1060">
                <a:solidFill>
                  <a:srgbClr val="464646"/>
                </a:solidFill>
                <a:latin typeface="Aptos"/>
              </a:defRPr>
            </a:pPr>
            <a:r>
              <a:t>Start with file operations, reconciliation, settlement controls, exception investigation and disputes.</a:t>
            </a:r>
          </a:p>
          <a:p>
            <a:pPr>
              <a:spcAft>
                <a:spcPts val="500"/>
              </a:spcAft>
              <a:defRPr sz="1060">
                <a:solidFill>
                  <a:srgbClr val="464646"/>
                </a:solidFill>
                <a:latin typeface="Aptos"/>
              </a:defRPr>
            </a:pPr>
            <a:r>
              <a:t>Use Agentic AI for evidence gathering and recommendations; retain HITL for material decisions.</a:t>
            </a:r>
          </a:p>
          <a:p>
            <a:pPr>
              <a:spcAft>
                <a:spcPts val="500"/>
              </a:spcAft>
              <a:defRPr sz="1060">
                <a:solidFill>
                  <a:srgbClr val="464646"/>
                </a:solidFill>
                <a:latin typeface="Aptos"/>
              </a:defRPr>
            </a:pPr>
            <a:r>
              <a:t>Fund Phase 0 + Phase 1 first, with security, risk and benefits gates before scale-up.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097280"/>
            <a:ext cx="192024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1097280"/>
            <a:ext cx="50292" cy="117043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4072" y="1170432"/>
            <a:ext cx="1719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Year-1 investment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4072" y="1426464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₹4.3 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2" y="1847088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Illustrative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1097280"/>
            <a:ext cx="192024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18320" y="1097280"/>
            <a:ext cx="50292" cy="1170432"/>
          </a:xfrm>
          <a:prstGeom prst="rect">
            <a:avLst/>
          </a:prstGeom>
          <a:solidFill>
            <a:srgbClr val="269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37192" y="1170432"/>
            <a:ext cx="1719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Annual benefit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7192" y="1426464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₹5.6 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7192" y="1847088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Illustrative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2514600"/>
            <a:ext cx="192024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2514600"/>
            <a:ext cx="50292" cy="1170432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34072" y="2587752"/>
            <a:ext cx="1719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3-year ROI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2843784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~132%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4072" y="3264408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Illustrative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20" y="2514600"/>
            <a:ext cx="192024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18320" y="2514600"/>
            <a:ext cx="50292" cy="117043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37192" y="2587752"/>
            <a:ext cx="1719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Payback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37192" y="2843784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14–18 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7192" y="3264408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Illustrative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1605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1C"/>
                </a:solidFill>
                <a:latin typeface="Aptos"/>
              </a:rPr>
              <a:t>Target outcomes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572000"/>
            <a:ext cx="2560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" y="4572000"/>
            <a:ext cx="50292" cy="96012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464515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manual-touch reduction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4901184"/>
            <a:ext cx="235915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60–75%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10712" y="4572000"/>
            <a:ext cx="2560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10712" y="4572000"/>
            <a:ext cx="50292" cy="96012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9584" y="464515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faster investigation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9584" y="4901184"/>
            <a:ext cx="235915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50–70%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27064" y="4572000"/>
            <a:ext cx="2560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27064" y="4572000"/>
            <a:ext cx="50292" cy="960120"/>
          </a:xfrm>
          <a:prstGeom prst="rect">
            <a:avLst/>
          </a:prstGeom>
          <a:solidFill>
            <a:srgbClr val="269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45936" y="464515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reconciliation coverage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5936" y="4901184"/>
            <a:ext cx="235915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&gt;95%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43416" y="4572000"/>
            <a:ext cx="2560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43416" y="4572000"/>
            <a:ext cx="50292" cy="96012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62288" y="464515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control monitoring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62288" y="4901184"/>
            <a:ext cx="235915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24×7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Current-state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Fragmented rails, multiple systems, manual controls and exception-driven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234440"/>
            <a:ext cx="162763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1234440"/>
            <a:ext cx="50292" cy="114300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1307592"/>
            <a:ext cx="1426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NPCI / SFTP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1984248"/>
            <a:ext cx="1426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Files &amp; reports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66543" y="1801368"/>
            <a:ext cx="219457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59152" y="1234440"/>
            <a:ext cx="162763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59152" y="1234440"/>
            <a:ext cx="50292" cy="114300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78024" y="1307592"/>
            <a:ext cx="1426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Ops teams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78024" y="1984248"/>
            <a:ext cx="1426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Download / validate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86784" y="1801368"/>
            <a:ext cx="219456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279392" y="1234440"/>
            <a:ext cx="162763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9392" y="1234440"/>
            <a:ext cx="50292" cy="114300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98264" y="1307592"/>
            <a:ext cx="1426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CBS / Switch / GL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8264" y="1984248"/>
            <a:ext cx="1426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Cross-system matching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07024" y="1801368"/>
            <a:ext cx="219455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199632" y="1234440"/>
            <a:ext cx="162763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9632" y="1234440"/>
            <a:ext cx="50292" cy="114300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4" y="1307592"/>
            <a:ext cx="1426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Excel / Email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1984248"/>
            <a:ext cx="1426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Investigation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27264" y="1801368"/>
            <a:ext cx="219456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119872" y="1234440"/>
            <a:ext cx="162763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19872" y="1234440"/>
            <a:ext cx="50292" cy="114300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38744" y="1307592"/>
            <a:ext cx="1426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Case / Dispute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8744" y="1984248"/>
            <a:ext cx="1426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Evidence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47504" y="1801368"/>
            <a:ext cx="219456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040112" y="1234440"/>
            <a:ext cx="162763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40112" y="1234440"/>
            <a:ext cx="50292" cy="114300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58984" y="1307592"/>
            <a:ext cx="1426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MIS / GRC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58984" y="1984248"/>
            <a:ext cx="1426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Reporting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3063240"/>
            <a:ext cx="34290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3063240"/>
            <a:ext cx="50292" cy="1024128"/>
          </a:xfrm>
          <a:prstGeom prst="rect">
            <a:avLst/>
          </a:prstGeom>
          <a:solidFill>
            <a:srgbClr val="C8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" y="3136392"/>
            <a:ext cx="32278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Manual reconciliation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" y="3813048"/>
            <a:ext cx="3227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High-volume matching and ageing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79" y="3063240"/>
            <a:ext cx="34290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97679" y="3063240"/>
            <a:ext cx="50292" cy="1024128"/>
          </a:xfrm>
          <a:prstGeom prst="rect">
            <a:avLst/>
          </a:prstGeom>
          <a:solidFill>
            <a:srgbClr val="C8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16551" y="3136392"/>
            <a:ext cx="32278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Late exception discovery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16551" y="3813048"/>
            <a:ext cx="3227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SLA risk emerges late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19" y="3063240"/>
            <a:ext cx="34290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46719" y="3063240"/>
            <a:ext cx="50292" cy="1024128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65592" y="3136392"/>
            <a:ext cx="32278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Evidence fragmentation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5592" y="3813048"/>
            <a:ext cx="3227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Data spread across systems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4361688"/>
            <a:ext cx="34290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8640" y="4361688"/>
            <a:ext cx="50292" cy="1024128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" y="4434840"/>
            <a:ext cx="32278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Limited AI leverage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" y="5111496"/>
            <a:ext cx="3227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Analysts gather evidence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97679" y="4361688"/>
            <a:ext cx="34290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97679" y="4361688"/>
            <a:ext cx="50292" cy="1024128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16551" y="4434840"/>
            <a:ext cx="32278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Inconsistent controls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16551" y="5111496"/>
            <a:ext cx="3227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Different product methods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46719" y="4361688"/>
            <a:ext cx="34290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46719" y="4361688"/>
            <a:ext cx="50292" cy="1024128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65592" y="4434840"/>
            <a:ext cx="32278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Lagging MIS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65592" y="5111496"/>
            <a:ext cx="3227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Management sees yesterday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" y="57150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1">
                <a:solidFill>
                  <a:srgbClr val="1C1C1C"/>
                </a:solidFill>
                <a:latin typeface="Aptos"/>
              </a:rPr>
              <a:t>Business consequence: higher effort, slower resolution, avoidable financial exposure and weaker management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Scope: eight NPCI 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One operating model across major payment and clearing 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260604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051560"/>
            <a:ext cx="50292" cy="1481328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124712"/>
            <a:ext cx="2404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UPI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1380743"/>
            <a:ext cx="2404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Very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801367"/>
            <a:ext cx="2404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Settlement • reconciliation • reversals • disputes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051560"/>
            <a:ext cx="260604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051560"/>
            <a:ext cx="50292" cy="1481328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2152" y="1124712"/>
            <a:ext cx="2404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IMPS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1380743"/>
            <a:ext cx="2404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Very 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1801367"/>
            <a:ext cx="2404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Cycles • reconciliation • reversals • exceptions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051560"/>
            <a:ext cx="260604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051560"/>
            <a:ext cx="50292" cy="1481328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1124712"/>
            <a:ext cx="2404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NACH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1380743"/>
            <a:ext cx="2404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Very 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1801367"/>
            <a:ext cx="2404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Files • debit/credit • returns • mandates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1051560"/>
            <a:ext cx="260604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1051560"/>
            <a:ext cx="50292" cy="1481328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1124712"/>
            <a:ext cx="2404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AePS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1380743"/>
            <a:ext cx="2404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1801367"/>
            <a:ext cx="2404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Settlement • BC • reversals • complaints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2880360"/>
            <a:ext cx="260604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2880360"/>
            <a:ext cx="50292" cy="1481328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2953512"/>
            <a:ext cx="2404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RuPay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3209544"/>
            <a:ext cx="2404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3630168"/>
            <a:ext cx="2404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Settlement • ATM/POS • chargebacks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83280" y="2880360"/>
            <a:ext cx="260604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83280" y="2880360"/>
            <a:ext cx="50292" cy="1481328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02152" y="2953512"/>
            <a:ext cx="2404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CTS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02152" y="3209544"/>
            <a:ext cx="2404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02152" y="3630168"/>
            <a:ext cx="2404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Presentment • returns • image quality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2880360"/>
            <a:ext cx="260604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2880360"/>
            <a:ext cx="50292" cy="1481328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2512" y="2953512"/>
            <a:ext cx="2404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BBPS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3209544"/>
            <a:ext cx="2404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High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3630168"/>
            <a:ext cx="2404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Payment • biller • settlement • disputes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0" y="2880360"/>
            <a:ext cx="260604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0" y="2880360"/>
            <a:ext cx="50292" cy="1481328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62872" y="2953512"/>
            <a:ext cx="2404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NETC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62872" y="3209544"/>
            <a:ext cx="2404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Very High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62872" y="3630168"/>
            <a:ext cx="2404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Settlement • tags • duplicates • disputes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029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64646"/>
                </a:solidFill>
                <a:latin typeface="Aptos"/>
              </a:rPr>
              <a:t>Cross-NPCI: file monitoring, suspense, exception ageing, circular intelligence, MIS, audit evidence and control-tower governance.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Business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Functional requirements translated into a unified operations workbench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0584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005840"/>
            <a:ext cx="50292" cy="80467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1078992"/>
            <a:ext cx="5056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BR-01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1335024"/>
            <a:ext cx="5056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Unified operations cockpit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1755648"/>
            <a:ext cx="5056632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Product, cycle, file, settlement and exception 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00584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005840"/>
            <a:ext cx="50292" cy="804672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1078992"/>
            <a:ext cx="5056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BR-02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1335024"/>
            <a:ext cx="5056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Intelligent file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1755648"/>
            <a:ext cx="5056632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Expected files, ingestion, validation, duplicate/missing alerts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96596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965960"/>
            <a:ext cx="50292" cy="80467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2039112"/>
            <a:ext cx="5056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BR-03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2295144"/>
            <a:ext cx="5056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Universal reconciliation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2715768"/>
            <a:ext cx="5056632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NPCI ↔ CBS ↔ switch ↔ GL matching and ageing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196596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1965960"/>
            <a:ext cx="50292" cy="804672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5352" y="2039112"/>
            <a:ext cx="5056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BR-04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5352" y="2295144"/>
            <a:ext cx="5056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Agentic investigation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2715768"/>
            <a:ext cx="5056632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Evidence retrieval, transaction reconstruction, RCA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92608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926080"/>
            <a:ext cx="50292" cy="80467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2999232"/>
            <a:ext cx="5056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BR-05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3255264"/>
            <a:ext cx="5056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Dispute automation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3675888"/>
            <a:ext cx="5056632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Evidence pack, response recommendation, case preparation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292608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2926080"/>
            <a:ext cx="50292" cy="804672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45352" y="2999232"/>
            <a:ext cx="5056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BR-06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2" y="3255264"/>
            <a:ext cx="5056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HITL approvals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5352" y="3675888"/>
            <a:ext cx="5056632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Risk routing, maker-checker, approval thresholds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88620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3886200"/>
            <a:ext cx="50292" cy="80467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" y="3959352"/>
            <a:ext cx="5056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BR-07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" y="4215384"/>
            <a:ext cx="5056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GRC / regulatory intelligence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" y="4636008"/>
            <a:ext cx="5056632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RBI/NPCI updates, controls, impact assessment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26480" y="388620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26480" y="3886200"/>
            <a:ext cx="50292" cy="804672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45352" y="3959352"/>
            <a:ext cx="5056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BR-08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45352" y="4215384"/>
            <a:ext cx="5056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MIS &amp; dashboards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45352" y="4636008"/>
            <a:ext cx="5056632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Daily/weekly/monthly/quarterly reporting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84632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4846320"/>
            <a:ext cx="50292" cy="80467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6072" y="4919472"/>
            <a:ext cx="5056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BR-09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" y="5175504"/>
            <a:ext cx="5056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Auditability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072" y="5596128"/>
            <a:ext cx="5056632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Complete evidence trail for material decisions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26480" y="484632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26480" y="4846320"/>
            <a:ext cx="50292" cy="804672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45352" y="4919472"/>
            <a:ext cx="5056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BR-10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5175504"/>
            <a:ext cx="5056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Security &amp; resilience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5352" y="5596128"/>
            <a:ext cx="5056632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RBAC, SoD, vault, HA/DR, fallback, observability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Target solution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Digital workforce + orchestration + bank systems + human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868680"/>
            <a:ext cx="10881360" cy="502920"/>
          </a:xfrm>
          <a:prstGeom prst="round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95097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C8460A"/>
                </a:solidFill>
                <a:latin typeface="Aptos"/>
              </a:rPr>
              <a:t>NPCI 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950976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464646"/>
                </a:solidFill>
                <a:latin typeface="Aptos"/>
              </a:rPr>
              <a:t>UPI | IMPS | NACH | AePS | RuPay | CTS | BBPS | NETC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581912"/>
            <a:ext cx="10881360" cy="502920"/>
          </a:xfrm>
          <a:prstGeom prst="roundRect">
            <a:avLst/>
          </a:prstGeom>
          <a:solidFill>
            <a:srgbClr val="FFEDE1"/>
          </a:solidFill>
          <a:ln>
            <a:solidFill>
              <a:srgbClr val="F2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66420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C8460A"/>
                </a:solidFill>
                <a:latin typeface="Aptos"/>
              </a:rPr>
              <a:t>INTELLIGENT FILE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16642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464646"/>
                </a:solidFill>
                <a:latin typeface="Aptos"/>
              </a:rPr>
              <a:t>Monitoring | download/upload | validation | duplicate/missing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295144"/>
            <a:ext cx="10881360" cy="502920"/>
          </a:xfrm>
          <a:prstGeom prst="round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377439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C8460A"/>
                </a:solidFill>
                <a:latin typeface="Aptos"/>
              </a:rPr>
              <a:t>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377439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464646"/>
                </a:solidFill>
                <a:latin typeface="Aptos"/>
              </a:rPr>
              <a:t>Queues | workflows | retries | schedules | SLA routing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008376"/>
            <a:ext cx="10881360" cy="502920"/>
          </a:xfrm>
          <a:prstGeom prst="roundRect">
            <a:avLst/>
          </a:prstGeom>
          <a:solidFill>
            <a:srgbClr val="FFEDE1"/>
          </a:solidFill>
          <a:ln>
            <a:solidFill>
              <a:srgbClr val="F2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09067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C8460A"/>
                </a:solidFill>
                <a:latin typeface="Aptos"/>
              </a:rPr>
              <a:t>SPECIALIST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09067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464646"/>
                </a:solidFill>
                <a:latin typeface="Aptos"/>
              </a:rPr>
              <a:t>Recon | Investigation | Dispute | Settlement | Regulatory | MIS | Risk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721608"/>
            <a:ext cx="10881360" cy="502920"/>
          </a:xfrm>
          <a:prstGeom prst="round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80390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C8460A"/>
                </a:solidFill>
                <a:latin typeface="Aptos"/>
              </a:rPr>
              <a:t>BANK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3803904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464646"/>
                </a:solidFill>
                <a:latin typeface="Aptos"/>
              </a:rPr>
              <a:t>CBS | GL | switches | DWH | CRM | GRC | ECM | Case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434840"/>
            <a:ext cx="10881360" cy="502920"/>
          </a:xfrm>
          <a:prstGeom prst="roundRect">
            <a:avLst/>
          </a:prstGeom>
          <a:solidFill>
            <a:srgbClr val="FFEDE1"/>
          </a:solidFill>
          <a:ln>
            <a:solidFill>
              <a:srgbClr val="F2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51713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C8460A"/>
                </a:solidFill>
                <a:latin typeface="Aptos"/>
              </a:rPr>
              <a:t>HUMAN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4517136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464646"/>
                </a:solidFill>
                <a:latin typeface="Aptos"/>
              </a:rPr>
              <a:t>Maker-checker | thresholds | HITL | override | escalation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148072"/>
            <a:ext cx="10881360" cy="502920"/>
          </a:xfrm>
          <a:prstGeom prst="round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23036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C8460A"/>
                </a:solidFill>
                <a:latin typeface="Aptos"/>
              </a:rPr>
              <a:t>CONTROL TOWER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523036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464646"/>
                </a:solidFill>
                <a:latin typeface="Aptos"/>
              </a:rPr>
              <a:t>SLA/TAT | exposure | ageing | STP | compliance |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10819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1C1C1C"/>
                </a:solidFill>
                <a:latin typeface="Aptos"/>
              </a:rPr>
              <a:t>Agentic reasoning is bounded by policy, scoped tools, audit evidence and approval gates.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Unified workbench UI / 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Single pane for control tower, product operations, agents, GRC, MIS, exceptions and approvals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914400"/>
            <a:ext cx="11201400" cy="5257800"/>
          </a:xfrm>
          <a:prstGeom prst="round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" y="1051560"/>
            <a:ext cx="1417320" cy="4983480"/>
          </a:xfrm>
          <a:prstGeom prst="round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2344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AE NPCI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1691640"/>
            <a:ext cx="1170432" cy="310896"/>
          </a:xfrm>
          <a:prstGeom prst="roundRect">
            <a:avLst/>
          </a:prstGeom>
          <a:solidFill>
            <a:srgbClr val="F26918"/>
          </a:solidFill>
          <a:ln>
            <a:solidFill>
              <a:srgbClr val="F2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1755648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0" b="1">
                <a:solidFill>
                  <a:srgbClr val="FFFFFF"/>
                </a:solidFill>
                <a:latin typeface="Aptos"/>
              </a:rPr>
              <a:t>Control Tower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167128"/>
            <a:ext cx="1170432" cy="310896"/>
          </a:xfrm>
          <a:prstGeom prst="round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231136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0" b="0">
                <a:solidFill>
                  <a:srgbClr val="FFFFFF"/>
                </a:solidFill>
                <a:latin typeface="Aptos"/>
              </a:rPr>
              <a:t>NPCI Ops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642616"/>
            <a:ext cx="1170432" cy="310896"/>
          </a:xfrm>
          <a:prstGeom prst="round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706624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0" b="0">
                <a:solidFill>
                  <a:srgbClr val="FFFFFF"/>
                </a:solidFill>
                <a:latin typeface="Aptos"/>
              </a:rPr>
              <a:t>AI Agents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118104"/>
            <a:ext cx="1170432" cy="310896"/>
          </a:xfrm>
          <a:prstGeom prst="round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182112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0" b="0">
                <a:solidFill>
                  <a:srgbClr val="FFFFFF"/>
                </a:solidFill>
                <a:latin typeface="Aptos"/>
              </a:rPr>
              <a:t>GRC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593592"/>
            <a:ext cx="1170432" cy="310896"/>
          </a:xfrm>
          <a:prstGeom prst="round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657600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0" b="0">
                <a:solidFill>
                  <a:srgbClr val="FFFFFF"/>
                </a:solidFill>
                <a:latin typeface="Aptos"/>
              </a:rPr>
              <a:t>MIS / Reports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069080"/>
            <a:ext cx="1170432" cy="310896"/>
          </a:xfrm>
          <a:prstGeom prst="round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133088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0" b="0">
                <a:solidFill>
                  <a:srgbClr val="FFFFFF"/>
                </a:solidFill>
                <a:latin typeface="Aptos"/>
              </a:rPr>
              <a:t>Exceptions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544568"/>
            <a:ext cx="1170432" cy="310896"/>
          </a:xfrm>
          <a:prstGeom prst="round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608576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0" b="0">
                <a:solidFill>
                  <a:srgbClr val="FFFFFF"/>
                </a:solidFill>
                <a:latin typeface="Aptos"/>
              </a:rPr>
              <a:t>HITL Approvals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5020056"/>
            <a:ext cx="1170432" cy="310896"/>
          </a:xfrm>
          <a:prstGeom prst="round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5084064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0" b="0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40280" y="1188720"/>
            <a:ext cx="20116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40280" y="1188720"/>
            <a:ext cx="50292" cy="86868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59152" y="1261872"/>
            <a:ext cx="1810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Transactions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59152" y="1517904"/>
            <a:ext cx="1810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8.42L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59152" y="1938528"/>
            <a:ext cx="1810512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Today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0560" y="1188720"/>
            <a:ext cx="20116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80560" y="1188720"/>
            <a:ext cx="50292" cy="868680"/>
          </a:xfrm>
          <a:prstGeom prst="rect">
            <a:avLst/>
          </a:prstGeom>
          <a:solidFill>
            <a:srgbClr val="C8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9432" y="1261872"/>
            <a:ext cx="1810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Exceptions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9432" y="1517904"/>
            <a:ext cx="1810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5,832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9432" y="1938528"/>
            <a:ext cx="1810512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Today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20840" y="1188720"/>
            <a:ext cx="20116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20840" y="1188720"/>
            <a:ext cx="50292" cy="868680"/>
          </a:xfrm>
          <a:prstGeom prst="rect">
            <a:avLst/>
          </a:prstGeom>
          <a:solidFill>
            <a:srgbClr val="269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39712" y="1261872"/>
            <a:ext cx="1810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Auto-match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1517904"/>
            <a:ext cx="1810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96.4%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1938528"/>
            <a:ext cx="1810512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Today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61120" y="1188720"/>
            <a:ext cx="20116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61120" y="1188720"/>
            <a:ext cx="50292" cy="86868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79992" y="1261872"/>
            <a:ext cx="1810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Exposure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79992" y="1517904"/>
            <a:ext cx="1810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₹42.6L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79992" y="1938528"/>
            <a:ext cx="1810512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Today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240280" y="2286000"/>
            <a:ext cx="4572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240280" y="2286000"/>
            <a:ext cx="50292" cy="155448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59152" y="2359152"/>
            <a:ext cx="43708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Rail health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59152" y="3035808"/>
            <a:ext cx="4370832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UPI 92%   IMPS 86%   NACH 78%   AePS 64%   RuPay 88%
Operational status with drill-down by product and cycle.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040880" y="2286000"/>
            <a:ext cx="44348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40880" y="2286000"/>
            <a:ext cx="50292" cy="1554480"/>
          </a:xfrm>
          <a:prstGeom prst="rect">
            <a:avLst/>
          </a:prstGeom>
          <a:solidFill>
            <a:srgbClr val="C8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59752" y="2359152"/>
            <a:ext cx="4233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Exception ageing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59752" y="3035808"/>
            <a:ext cx="4233672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&lt;4h  2,450     4–24h  1,780
1–3d  1,120     &gt;3d  482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240280" y="4069080"/>
            <a:ext cx="35204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240280" y="4069080"/>
            <a:ext cx="50292" cy="146304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59152" y="4142232"/>
            <a:ext cx="33192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AI Agent Console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59152" y="4818888"/>
            <a:ext cx="3319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12 active investigations
4 recommendations awaiting HITL
2 regulatory impacts identified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89320" y="4069080"/>
            <a:ext cx="2743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89320" y="4069080"/>
            <a:ext cx="50292" cy="1463040"/>
          </a:xfrm>
          <a:prstGeom prst="rect">
            <a:avLst/>
          </a:prstGeom>
          <a:solidFill>
            <a:srgbClr val="C8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08192" y="4142232"/>
            <a:ext cx="2542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GRC Alerts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08192" y="4818888"/>
            <a:ext cx="2542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5 open actions
1 overdue evidence pack
0 critical breaches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961120" y="4069080"/>
            <a:ext cx="2514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961120" y="4069080"/>
            <a:ext cx="50292" cy="146304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79992" y="414223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HITL Queue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79992" y="4818888"/>
            <a:ext cx="2313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312 pending
₹18.4L value
Avg age 1.7h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Product operations workbench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Product-specific controls on a common transaction / settlement / exception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024128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3566160"/>
                <a:gridCol w="3383280"/>
                <a:gridCol w="3291840"/>
              </a:tblGrid>
              <a:tr h="528320">
                <a:tc>
                  <a:txBody>
                    <a:bodyPr/>
                    <a:lstStyle/>
                    <a:p>
                      <a:pPr>
                        <a:defRPr sz="79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Primary views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Automation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HITL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UPI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Txn • settlement • reversals • disputes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RPA + Recon + Dispute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Financial / 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IMPS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Cycles • recon • failed/timeout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RPA + Investigation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Material exceptions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NACH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Files • debit/credit • returns • mandates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RPA + Recon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Mandate / financial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AePS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Settlement • BC • reversals • complaints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RPA + Investigation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Customer / risk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RuPay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Settlement • ATM/POS • chargebacks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RPA + Dispute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Chargeback / liability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Presentment • returns • image quality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RPA + Document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Return / financial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BBPS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Payment • biller • settlement • disputes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RPA + Recon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Refund / dispute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NETC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Settlement • tags • duplicates • disputes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RPA + Exception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9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Financial / customer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End-to-end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NPCI file arrival → processing → reconciliation → investigation → approval → closure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" y="1645920"/>
            <a:ext cx="1115568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755648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768096" y="1755648"/>
            <a:ext cx="256032" cy="256032"/>
          </a:xfrm>
          <a:prstGeom prst="ellipse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157984"/>
            <a:ext cx="969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C1C1C"/>
                </a:solidFill>
                <a:latin typeface="Aptos"/>
              </a:rPr>
              <a:t>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450592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" b="0">
                <a:solidFill>
                  <a:srgbClr val="6E6E6E"/>
                </a:solidFill>
                <a:latin typeface="Aptos"/>
              </a:rPr>
              <a:t>Expected file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53895" y="2286000"/>
            <a:ext cx="155448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645919" y="1645920"/>
            <a:ext cx="1115568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75687" y="1755648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075687" y="1755648"/>
            <a:ext cx="256032" cy="256032"/>
          </a:xfrm>
          <a:prstGeom prst="ellipse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19072" y="2157984"/>
            <a:ext cx="969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C1C1C"/>
                </a:solidFill>
                <a:latin typeface="Aptos"/>
              </a:rPr>
              <a:t>Acquire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2450592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" b="0">
                <a:solidFill>
                  <a:srgbClr val="6E6E6E"/>
                </a:solidFill>
                <a:latin typeface="Aptos"/>
              </a:rPr>
              <a:t>Ingest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61487" y="2286000"/>
            <a:ext cx="155448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953512" y="1645920"/>
            <a:ext cx="1115568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1755648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Oval 24"/>
          <p:cNvSpPr/>
          <p:nvPr/>
        </p:nvSpPr>
        <p:spPr>
          <a:xfrm>
            <a:off x="3383280" y="1755648"/>
            <a:ext cx="256032" cy="256032"/>
          </a:xfrm>
          <a:prstGeom prst="ellipse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26664" y="2157984"/>
            <a:ext cx="969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C1C1C"/>
                </a:solidFill>
                <a:latin typeface="Aptos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26664" y="2450592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" b="0">
                <a:solidFill>
                  <a:srgbClr val="6E6E6E"/>
                </a:solidFill>
                <a:latin typeface="Aptos"/>
              </a:rPr>
              <a:t>Schema/counts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69080" y="2286000"/>
            <a:ext cx="155448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261104" y="1645920"/>
            <a:ext cx="1115568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0872" y="1755648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Oval 30"/>
          <p:cNvSpPr/>
          <p:nvPr/>
        </p:nvSpPr>
        <p:spPr>
          <a:xfrm>
            <a:off x="4690872" y="1755648"/>
            <a:ext cx="256032" cy="256032"/>
          </a:xfrm>
          <a:prstGeom prst="ellipse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34256" y="2157984"/>
            <a:ext cx="969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C1C1C"/>
                </a:solidFill>
                <a:latin typeface="Aptos"/>
              </a:rPr>
              <a:t>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34256" y="2450592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" b="0">
                <a:solidFill>
                  <a:srgbClr val="6E6E6E"/>
                </a:solidFill>
                <a:latin typeface="Aptos"/>
              </a:rPr>
              <a:t>CBS/switch/GL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76672" y="2286000"/>
            <a:ext cx="155448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568696" y="1645920"/>
            <a:ext cx="1115568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98464" y="1755648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7" name="Oval 36"/>
          <p:cNvSpPr/>
          <p:nvPr/>
        </p:nvSpPr>
        <p:spPr>
          <a:xfrm>
            <a:off x="5998464" y="1755648"/>
            <a:ext cx="256032" cy="256032"/>
          </a:xfrm>
          <a:prstGeom prst="ellipse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41848" y="2157984"/>
            <a:ext cx="969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C1C1C"/>
                </a:solidFill>
                <a:latin typeface="Aptos"/>
              </a:rPr>
              <a:t>Reconcile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41848" y="2450592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" b="0">
                <a:solidFill>
                  <a:srgbClr val="6E6E6E"/>
                </a:solidFill>
                <a:latin typeface="Aptos"/>
              </a:rPr>
              <a:t>Match/variance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684264" y="2286000"/>
            <a:ext cx="155448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876288" y="1645920"/>
            <a:ext cx="1115568" cy="1280160"/>
          </a:xfrm>
          <a:prstGeom prst="roundRect">
            <a:avLst/>
          </a:prstGeom>
          <a:solidFill>
            <a:srgbClr val="FFEDE1"/>
          </a:solidFill>
          <a:ln>
            <a:solidFill>
              <a:srgbClr val="F2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06055" y="1755648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3" name="Oval 42"/>
          <p:cNvSpPr/>
          <p:nvPr/>
        </p:nvSpPr>
        <p:spPr>
          <a:xfrm>
            <a:off x="7306055" y="1755648"/>
            <a:ext cx="256032" cy="256032"/>
          </a:xfrm>
          <a:prstGeom prst="ellipse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0" y="2157984"/>
            <a:ext cx="969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C1C1C"/>
                </a:solidFill>
                <a:latin typeface="Aptos"/>
              </a:rPr>
              <a:t>Investigate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2450592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" b="0">
                <a:solidFill>
                  <a:srgbClr val="6E6E6E"/>
                </a:solidFill>
                <a:latin typeface="Aptos"/>
              </a:rPr>
              <a:t>Agent RCA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991856" y="2286000"/>
            <a:ext cx="155448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183879" y="1645920"/>
            <a:ext cx="1115568" cy="1280160"/>
          </a:xfrm>
          <a:prstGeom prst="roundRect">
            <a:avLst/>
          </a:prstGeom>
          <a:solidFill>
            <a:srgbClr val="FFEDE1"/>
          </a:solidFill>
          <a:ln>
            <a:solidFill>
              <a:srgbClr val="F2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13648" y="1755648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49" name="Oval 48"/>
          <p:cNvSpPr/>
          <p:nvPr/>
        </p:nvSpPr>
        <p:spPr>
          <a:xfrm>
            <a:off x="8613648" y="1755648"/>
            <a:ext cx="256032" cy="256032"/>
          </a:xfrm>
          <a:prstGeom prst="ellipse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57031" y="2157984"/>
            <a:ext cx="969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C1C1C"/>
                </a:solidFill>
                <a:latin typeface="Aptos"/>
              </a:rPr>
              <a:t>Approve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57031" y="2450592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" b="0">
                <a:solidFill>
                  <a:srgbClr val="6E6E6E"/>
                </a:solidFill>
                <a:latin typeface="Aptos"/>
              </a:rPr>
              <a:t>HITL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299448" y="2286000"/>
            <a:ext cx="155448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9491472" y="1645920"/>
            <a:ext cx="1115568" cy="1280160"/>
          </a:xfrm>
          <a:prstGeom prst="roundRect">
            <a:avLst/>
          </a:prstGeom>
          <a:solidFill>
            <a:srgbClr val="FFEDE1"/>
          </a:solidFill>
          <a:ln>
            <a:solidFill>
              <a:srgbClr val="F2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21240" y="1755648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55" name="Oval 54"/>
          <p:cNvSpPr/>
          <p:nvPr/>
        </p:nvSpPr>
        <p:spPr>
          <a:xfrm>
            <a:off x="9921240" y="1755648"/>
            <a:ext cx="256032" cy="256032"/>
          </a:xfrm>
          <a:prstGeom prst="ellipse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64624" y="2157984"/>
            <a:ext cx="969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C1C1C"/>
                </a:solidFill>
                <a:latin typeface="Aptos"/>
              </a:rPr>
              <a:t>Execute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64624" y="2450592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" b="0">
                <a:solidFill>
                  <a:srgbClr val="6E6E6E"/>
                </a:solidFill>
                <a:latin typeface="Aptos"/>
              </a:rPr>
              <a:t>Controlled action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0607040" y="2286000"/>
            <a:ext cx="155448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10799063" y="1645920"/>
            <a:ext cx="1115568" cy="1280160"/>
          </a:xfrm>
          <a:prstGeom prst="roundRect">
            <a:avLst/>
          </a:prstGeom>
          <a:solidFill>
            <a:srgbClr val="FFEDE1"/>
          </a:solidFill>
          <a:ln>
            <a:solidFill>
              <a:srgbClr val="F2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228832" y="1755648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61" name="Oval 60"/>
          <p:cNvSpPr/>
          <p:nvPr/>
        </p:nvSpPr>
        <p:spPr>
          <a:xfrm>
            <a:off x="11228832" y="1755648"/>
            <a:ext cx="256032" cy="256032"/>
          </a:xfrm>
          <a:prstGeom prst="ellipse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872215" y="2157984"/>
            <a:ext cx="969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C1C1C"/>
                </a:solidFill>
                <a:latin typeface="Aptos"/>
              </a:rPr>
              <a:t>Close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72215" y="2450592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" b="0">
                <a:solidFill>
                  <a:srgbClr val="6E6E6E"/>
                </a:solidFill>
                <a:latin typeface="Aptos"/>
              </a:rPr>
              <a:t>MIS/evidence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417320" y="3383280"/>
            <a:ext cx="1828800" cy="246888"/>
          </a:xfrm>
          <a:prstGeom prst="roundRect">
            <a:avLst/>
          </a:prstGeom>
          <a:solidFill>
            <a:srgbClr val="FFEDE1"/>
          </a:solidFill>
          <a:ln>
            <a:solidFill>
              <a:srgbClr val="FF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417320" y="3410712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C8460A"/>
                </a:solidFill>
                <a:latin typeface="Aptos"/>
              </a:rPr>
              <a:t>Financial adjustment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429000" y="3383280"/>
            <a:ext cx="1828800" cy="246888"/>
          </a:xfrm>
          <a:prstGeom prst="roundRect">
            <a:avLst/>
          </a:prstGeom>
          <a:solidFill>
            <a:srgbClr val="FFEDE1"/>
          </a:solidFill>
          <a:ln>
            <a:solidFill>
              <a:srgbClr val="FF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29000" y="3410712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C8460A"/>
                </a:solidFill>
                <a:latin typeface="Aptos"/>
              </a:rPr>
              <a:t>Customer compensation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40680" y="3383280"/>
            <a:ext cx="1828800" cy="246888"/>
          </a:xfrm>
          <a:prstGeom prst="roundRect">
            <a:avLst/>
          </a:prstGeom>
          <a:solidFill>
            <a:srgbClr val="FFEDE1"/>
          </a:solidFill>
          <a:ln>
            <a:solidFill>
              <a:srgbClr val="FF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40680" y="3410712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C8460A"/>
                </a:solidFill>
                <a:latin typeface="Aptos"/>
              </a:rPr>
              <a:t>Dispute liability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452360" y="3383280"/>
            <a:ext cx="1828800" cy="246888"/>
          </a:xfrm>
          <a:prstGeom prst="roundRect">
            <a:avLst/>
          </a:prstGeom>
          <a:solidFill>
            <a:srgbClr val="FFEDE1"/>
          </a:solidFill>
          <a:ln>
            <a:solidFill>
              <a:srgbClr val="FF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52360" y="3410712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C8460A"/>
                </a:solidFill>
                <a:latin typeface="Aptos"/>
              </a:rPr>
              <a:t>High-risk exception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464040" y="3383280"/>
            <a:ext cx="1828800" cy="246888"/>
          </a:xfrm>
          <a:prstGeom prst="roundRect">
            <a:avLst/>
          </a:prstGeom>
          <a:solidFill>
            <a:srgbClr val="FFEDE1"/>
          </a:solidFill>
          <a:ln>
            <a:solidFill>
              <a:srgbClr val="FF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464040" y="3410712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C8460A"/>
                </a:solidFill>
                <a:latin typeface="Aptos"/>
              </a:rPr>
              <a:t>Control override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4360" y="4343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40" b="1">
                <a:solidFill>
                  <a:srgbClr val="464646"/>
                </a:solidFill>
                <a:latin typeface="Aptos"/>
              </a:rPr>
              <a:t>Evidence: source record • policy/rule • agent recommendation • approver • action • timestamp • outcome.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4360" y="49377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1C1C"/>
                </a:solidFill>
                <a:latin typeface="Aptos"/>
              </a:rPr>
              <a:t>Decisioning pattern: deterministic automation for predictable work; agentic reasoning for ambiguity; HITL for material decisions.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Agentic AI operating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Specialist agents collaborate under orchestration and policy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051560"/>
            <a:ext cx="50292" cy="141732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12471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File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1380743"/>
            <a:ext cx="235915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Usually 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801367"/>
            <a:ext cx="235915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Missing/late/duplicate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105156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1051560"/>
            <a:ext cx="50292" cy="141732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112471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1380743"/>
            <a:ext cx="235915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Usually 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1801367"/>
            <a:ext cx="235915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Schema/date/cycle/counts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05156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051560"/>
            <a:ext cx="50292" cy="141732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112471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Reconciliation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1380743"/>
            <a:ext cx="235915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Financial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1801367"/>
            <a:ext cx="235915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NPCI ↔ CBS/Switch/GL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05156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06840" y="1051560"/>
            <a:ext cx="50292" cy="141732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112471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Investigation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2" y="1380743"/>
            <a:ext cx="235915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Material cases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712" y="1801367"/>
            <a:ext cx="235915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Correlation + RCA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288036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2880360"/>
            <a:ext cx="50292" cy="141732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295351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Dispute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3209544"/>
            <a:ext cx="235915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Yes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3630168"/>
            <a:ext cx="235915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Evidence + reconstruction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37560" y="288036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37560" y="2880360"/>
            <a:ext cx="50292" cy="141732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56432" y="295351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Settlement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56432" y="3209544"/>
            <a:ext cx="235915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Adjustments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56432" y="3630168"/>
            <a:ext cx="235915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Position + variance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288036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2200" y="2880360"/>
            <a:ext cx="50292" cy="141732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1072" y="295351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Regulatory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1072" y="3209544"/>
            <a:ext cx="235915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Yes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91072" y="3630168"/>
            <a:ext cx="235915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Circular + impact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06840" y="288036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06840" y="2880360"/>
            <a:ext cx="50292" cy="141732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25712" y="295351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MIS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25712" y="3209544"/>
            <a:ext cx="235915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Optional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25712" y="3630168"/>
            <a:ext cx="235915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Reports + commentary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4983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70" b="1">
                <a:solidFill>
                  <a:srgbClr val="1C1C1C"/>
                </a:solidFill>
                <a:latin typeface="Aptos"/>
              </a:rPr>
              <a:t>Orchestrator: plan → call scoped tools → validate → route HITL → execute permitted action → record evidence.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5504688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C8460A"/>
                </a:solidFill>
                <a:latin typeface="Aptos"/>
              </a:rPr>
              <a:t>No unrestricted production access; permissions are product-, action- and risk-tier-specific.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Agent-to-agent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Example: UPI exception investigation with controlled decisioning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234440"/>
            <a:ext cx="1737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234440"/>
            <a:ext cx="50292" cy="105156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307592"/>
            <a:ext cx="15361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Exception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1563624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Classify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1234440"/>
            <a:ext cx="1737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1234440"/>
            <a:ext cx="50292" cy="105156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62072" y="1307592"/>
            <a:ext cx="15361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Investigation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1563624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Correlate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1234440"/>
            <a:ext cx="1737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46320" y="1234440"/>
            <a:ext cx="50292" cy="105156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65192" y="1307592"/>
            <a:ext cx="15361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Recon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5192" y="1563624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Validate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1234440"/>
            <a:ext cx="1737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0" y="1234440"/>
            <a:ext cx="50292" cy="105156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68312" y="1307592"/>
            <a:ext cx="15361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Policy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8312" y="1563624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Check rules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1234440"/>
            <a:ext cx="1737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2560" y="1234440"/>
            <a:ext cx="50292" cy="105156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71432" y="1307592"/>
            <a:ext cx="15361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Dispute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1432" y="1563624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Prepare case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0" y="3657600"/>
            <a:ext cx="1737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0" y="3657600"/>
            <a:ext cx="50292" cy="1051560"/>
          </a:xfrm>
          <a:prstGeom prst="rect">
            <a:avLst/>
          </a:prstGeom>
          <a:solidFill>
            <a:srgbClr val="C8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62072" y="3730752"/>
            <a:ext cx="15361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Human Approver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62072" y="3986784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Approve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46320" y="3657600"/>
            <a:ext cx="1737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46320" y="3657600"/>
            <a:ext cx="50292" cy="1051560"/>
          </a:xfrm>
          <a:prstGeom prst="rect">
            <a:avLst/>
          </a:prstGeom>
          <a:solidFill>
            <a:srgbClr val="269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65192" y="3730752"/>
            <a:ext cx="15361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Execution Bot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65192" y="3986784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Execute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49440" y="3657600"/>
            <a:ext cx="1737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49440" y="3657600"/>
            <a:ext cx="50292" cy="105156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68312" y="3730752"/>
            <a:ext cx="15361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Audit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68312" y="3986784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Evidence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377439" y="1764792"/>
            <a:ext cx="365761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80560" y="1764792"/>
            <a:ext cx="365760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583679" y="1764792"/>
            <a:ext cx="365761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686800" y="1764792"/>
            <a:ext cx="365760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743200" y="1764792"/>
            <a:ext cx="1737360" cy="242316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4480560" y="1764792"/>
            <a:ext cx="4572000" cy="242316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480560" y="4187952"/>
            <a:ext cx="365760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583679" y="4187952"/>
            <a:ext cx="365761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40080" y="5212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1C1C"/>
                </a:solidFill>
                <a:latin typeface="Aptos"/>
              </a:rPr>
              <a:t>Agents reason and recommend; only approved tools execute; material actions require maker-checker.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Reconciliation workbench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Reusable matching engine across NPCI, CBS, switch, GL and settlement accounts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024128"/>
            <a:ext cx="2011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024128"/>
            <a:ext cx="50292" cy="338328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097280"/>
            <a:ext cx="1810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SOURCE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1773936"/>
            <a:ext cx="18105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NPCI files
CBS
Switch
GL / settlement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14600" y="2697480"/>
            <a:ext cx="256032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807208" y="1024128"/>
            <a:ext cx="2011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7208" y="1024128"/>
            <a:ext cx="50292" cy="338328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1097280"/>
            <a:ext cx="1810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MATCHING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1773936"/>
            <a:ext cx="18105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Exact
Rule
Tolerance
AI-assisted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18888" y="2697480"/>
            <a:ext cx="256032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1496" y="1024128"/>
            <a:ext cx="2011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11496" y="1024128"/>
            <a:ext cx="50292" cy="338328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0368" y="1097280"/>
            <a:ext cx="1810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EXCEPTIONS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1773936"/>
            <a:ext cx="18105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Amount
Status
Missing leg
Duplicate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23176" y="2697480"/>
            <a:ext cx="256032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15784" y="1024128"/>
            <a:ext cx="2011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15784" y="1024128"/>
            <a:ext cx="50292" cy="338328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34656" y="1097280"/>
            <a:ext cx="1810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INVESTIGATION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4656" y="1773936"/>
            <a:ext cx="18105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Correlation
RCA
Evidence
Recommendation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27464" y="2697480"/>
            <a:ext cx="256032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720072" y="1024128"/>
            <a:ext cx="2011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20072" y="1024128"/>
            <a:ext cx="50292" cy="3383280"/>
          </a:xfrm>
          <a:prstGeom prst="rect">
            <a:avLst/>
          </a:prstGeom>
          <a:solidFill>
            <a:srgbClr val="C8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38944" y="1097280"/>
            <a:ext cx="1810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38944" y="1773936"/>
            <a:ext cx="18105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HITL
Adjustment
Closure
Audit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709160"/>
            <a:ext cx="2514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709160"/>
            <a:ext cx="50292" cy="914400"/>
          </a:xfrm>
          <a:prstGeom prst="rect">
            <a:avLst/>
          </a:prstGeom>
          <a:solidFill>
            <a:srgbClr val="269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478231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Auto-match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" y="5038344"/>
            <a:ext cx="2313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96.4%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" y="5458968"/>
            <a:ext cx="2313432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Illustrative target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64992" y="4709160"/>
            <a:ext cx="2514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64992" y="4709160"/>
            <a:ext cx="50292" cy="91440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83864" y="478231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Priority ageing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83864" y="5038344"/>
            <a:ext cx="2313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&lt;24h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83864" y="5458968"/>
            <a:ext cx="2313432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Illustrative target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81344" y="4709160"/>
            <a:ext cx="2514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81344" y="4709160"/>
            <a:ext cx="50292" cy="91440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0216" y="478231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Investigation effort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0216" y="5038344"/>
            <a:ext cx="2313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-55%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0216" y="5458968"/>
            <a:ext cx="2313432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Illustrative target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97696" y="4709160"/>
            <a:ext cx="2514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997696" y="4709160"/>
            <a:ext cx="50292" cy="914400"/>
          </a:xfrm>
          <a:prstGeom prst="rect">
            <a:avLst/>
          </a:prstGeom>
          <a:solidFill>
            <a:srgbClr val="C8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16568" y="478231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Material approvals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16568" y="5038344"/>
            <a:ext cx="2313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100%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16568" y="5458968"/>
            <a:ext cx="2313432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Illustrative target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Exception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One queue with intelligent classification, ageing, RCA and controlled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024128"/>
          <a:ext cx="7818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713232"/>
                <a:gridCol w="1417320"/>
                <a:gridCol w="777240"/>
                <a:gridCol w="594360"/>
                <a:gridCol w="2514600"/>
                <a:gridCol w="1143000"/>
              </a:tblGrid>
              <a:tr h="64008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Exception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Age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AI recommendation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HITL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UPI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Amount mismatch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₹10,000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1h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Verify credit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IMPS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Timeout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₹25,000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2h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Correlate switch + CBS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Required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NACH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Return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₹12,400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6h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Validate return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RuPay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Chargeback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₹1.8L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12h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Compile evidence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Required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GL mismatch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₹76,500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4h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Reconcile posting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NETC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Duplicate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₹750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14h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Check duplicate debit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Optional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732520" y="105156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32520" y="1051560"/>
            <a:ext cx="50292" cy="109728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51392" y="112471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Open exceptions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1380743"/>
            <a:ext cx="2313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5,832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1392" y="1801367"/>
            <a:ext cx="2313432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Sample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2359152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32520" y="2359152"/>
            <a:ext cx="50292" cy="1097280"/>
          </a:xfrm>
          <a:prstGeom prst="rect">
            <a:avLst/>
          </a:prstGeom>
          <a:solidFill>
            <a:srgbClr val="C8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51392" y="2432304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High priority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1392" y="2688336"/>
            <a:ext cx="2313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312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1392" y="3108960"/>
            <a:ext cx="2313432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Immediate queue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3675887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32520" y="3675887"/>
            <a:ext cx="50292" cy="109728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51392" y="3749039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Exposure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92" y="4005072"/>
            <a:ext cx="2313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₹42.6L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1392" y="4425696"/>
            <a:ext cx="2313432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Sample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HITL approval workbench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Human-in-the-loop is a designed control, not an exception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143000"/>
          <a:ext cx="5989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280160"/>
                <a:gridCol w="685800"/>
                <a:gridCol w="731520"/>
                <a:gridCol w="1188720"/>
                <a:gridCol w="914400"/>
              </a:tblGrid>
              <a:tr h="54864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Case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Approver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UPI-312456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Adjustment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₹10,000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Ops Mgr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NACH-250425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Mandate override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Payments Lead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RUPAY-9988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Chargeback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₹1.8L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Dispute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NETC-2540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Duplicate reversal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₹750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Ops Mgr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06640" y="1143000"/>
            <a:ext cx="41605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1143000"/>
            <a:ext cx="50292" cy="2743200"/>
          </a:xfrm>
          <a:prstGeom prst="rect">
            <a:avLst/>
          </a:prstGeom>
          <a:solidFill>
            <a:srgbClr val="C8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1216152"/>
            <a:ext cx="3959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Selected case: UPI mismatch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1472184"/>
            <a:ext cx="3959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94%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1892807"/>
            <a:ext cx="39593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Agent recommendation + evidence pack ready for maker/checker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4251960"/>
            <a:ext cx="1097280" cy="411480"/>
          </a:xfrm>
          <a:prstGeom prst="roundRect">
            <a:avLst/>
          </a:prstGeom>
          <a:solidFill>
            <a:srgbClr val="269158"/>
          </a:solidFill>
          <a:ln>
            <a:solidFill>
              <a:srgbClr val="269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361688"/>
            <a:ext cx="10972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Approve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4251960"/>
            <a:ext cx="1097280" cy="411480"/>
          </a:xfrm>
          <a:prstGeom prst="roundRect">
            <a:avLst/>
          </a:prstGeom>
          <a:solidFill>
            <a:srgbClr val="C83737"/>
          </a:solidFill>
          <a:ln>
            <a:solidFill>
              <a:srgbClr val="C8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4361688"/>
            <a:ext cx="10972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Reject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4251960"/>
            <a:ext cx="1097280" cy="411480"/>
          </a:xfrm>
          <a:prstGeom prst="roundRect">
            <a:avLst/>
          </a:prstGeom>
          <a:solidFill>
            <a:srgbClr val="F26918"/>
          </a:solidFill>
          <a:ln>
            <a:solidFill>
              <a:srgbClr val="F2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20" y="4361688"/>
            <a:ext cx="10972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Escalate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251960"/>
            <a:ext cx="6309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30">
                <a:solidFill>
                  <a:srgbClr val="464646"/>
                </a:solidFill>
                <a:latin typeface="Aptos"/>
              </a:defRPr>
            </a:pPr>
            <a:r>
              <a:t>Maker/checker separation</a:t>
            </a:r>
          </a:p>
          <a:p>
            <a:pPr>
              <a:spcAft>
                <a:spcPts val="500"/>
              </a:spcAft>
              <a:defRPr sz="930">
                <a:solidFill>
                  <a:srgbClr val="464646"/>
                </a:solidFill>
                <a:latin typeface="Aptos"/>
              </a:defRPr>
            </a:pPr>
            <a:r>
              <a:t>Threshold-based routing</a:t>
            </a:r>
          </a:p>
          <a:p>
            <a:pPr>
              <a:spcAft>
                <a:spcPts val="500"/>
              </a:spcAft>
              <a:defRPr sz="930">
                <a:solidFill>
                  <a:srgbClr val="464646"/>
                </a:solidFill>
                <a:latin typeface="Aptos"/>
              </a:defRPr>
            </a:pPr>
            <a:r>
              <a:t>Evidence mandatory</a:t>
            </a:r>
          </a:p>
          <a:p>
            <a:pPr>
              <a:spcAft>
                <a:spcPts val="500"/>
              </a:spcAft>
              <a:defRPr sz="930">
                <a:solidFill>
                  <a:srgbClr val="464646"/>
                </a:solidFill>
                <a:latin typeface="Aptos"/>
              </a:defRPr>
            </a:pPr>
            <a:r>
              <a:t>Reject / escalate / request evidence</a:t>
            </a:r>
          </a:p>
          <a:p>
            <a:pPr>
              <a:spcAft>
                <a:spcPts val="500"/>
              </a:spcAft>
              <a:defRPr sz="930">
                <a:solidFill>
                  <a:srgbClr val="464646"/>
                </a:solidFill>
                <a:latin typeface="Aptos"/>
              </a:defRPr>
            </a:pPr>
            <a:r>
              <a:t>Timestamped audit trail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GRC &amp; compliance workbench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Regulatory requirements become mapped controls, actions, owners and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024128"/>
          <a:ext cx="1138428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97680"/>
                <a:gridCol w="2011680"/>
                <a:gridCol w="2331720"/>
              </a:tblGrid>
              <a:tr h="632460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RBI IT Governance 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Governance, risk, controls, assurance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CIO/COO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Compliant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RBI IT Outsourcing 2023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Third-party risk + exit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CIO/Vendor Risk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Compliant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RBI Fraud Risk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Early detection +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Fraud/Risk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Compliant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BBPS Directions 2024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Operating + customer protection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Payments Compliance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Compliant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NPCI circulars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Impact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Payments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2 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94360" y="5074920"/>
            <a:ext cx="25146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5074920"/>
            <a:ext cx="50292" cy="777240"/>
          </a:xfrm>
          <a:prstGeom prst="rect">
            <a:avLst/>
          </a:prstGeom>
          <a:solidFill>
            <a:srgbClr val="269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14807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Compliance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404104"/>
            <a:ext cx="2313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94%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824728"/>
            <a:ext cx="2313432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Illustrative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79" y="5074920"/>
            <a:ext cx="25146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79" y="5074920"/>
            <a:ext cx="50292" cy="77724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2151" y="514807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Open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1" y="5404104"/>
            <a:ext cx="2313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2151" y="5824728"/>
            <a:ext cx="2313432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Illustrative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5074920"/>
            <a:ext cx="25146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5074920"/>
            <a:ext cx="50292" cy="77724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514807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Evidence items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5404104"/>
            <a:ext cx="2313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246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5824728"/>
            <a:ext cx="2313432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Illustrative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19" y="5074920"/>
            <a:ext cx="25146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61119" y="5074920"/>
            <a:ext cx="50292" cy="777240"/>
          </a:xfrm>
          <a:prstGeom prst="rect">
            <a:avLst/>
          </a:prstGeom>
          <a:solidFill>
            <a:srgbClr val="C8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9992" y="514807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SLA breaches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9992" y="5404104"/>
            <a:ext cx="2313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9992" y="5824728"/>
            <a:ext cx="2313432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Illustrative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61888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Implementation alignment only; final applicability is confirmed by bank Compliance / Legal.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Regulatory intelligence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Monitor approved RBI/NPCI sources and convert change into executable implementation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3716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554480"/>
            <a:ext cx="50292" cy="1298448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627632"/>
            <a:ext cx="1170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Monitor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304288"/>
            <a:ext cx="1170432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Approved sources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74519" y="2194560"/>
            <a:ext cx="210313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130552" y="1554480"/>
            <a:ext cx="13716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30552" y="1554480"/>
            <a:ext cx="50292" cy="1298448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9424" y="1627632"/>
            <a:ext cx="1170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Extract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9424" y="2304288"/>
            <a:ext cx="1170432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Requirement/date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02152" y="2194560"/>
            <a:ext cx="210312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758184" y="1554480"/>
            <a:ext cx="13716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58184" y="1554480"/>
            <a:ext cx="50292" cy="1298448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77056" y="1627632"/>
            <a:ext cx="1170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Classify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77056" y="2304288"/>
            <a:ext cx="1170432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Product/process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29784" y="2194560"/>
            <a:ext cx="210312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385816" y="1554480"/>
            <a:ext cx="13716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5816" y="1554480"/>
            <a:ext cx="50292" cy="1298448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04688" y="1627632"/>
            <a:ext cx="1170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Assess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04688" y="2304288"/>
            <a:ext cx="1170432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Impact/gaps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757416" y="2194560"/>
            <a:ext cx="210311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013448" y="1554480"/>
            <a:ext cx="13716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13448" y="1554480"/>
            <a:ext cx="50292" cy="1298448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1627632"/>
            <a:ext cx="1170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2304288"/>
            <a:ext cx="1170432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Compliance HITL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385048" y="2194560"/>
            <a:ext cx="210312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641080" y="1554480"/>
            <a:ext cx="13716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1080" y="1554480"/>
            <a:ext cx="50292" cy="1298448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59952" y="1627632"/>
            <a:ext cx="1170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Implement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59952" y="2304288"/>
            <a:ext cx="1170432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Change workflow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012680" y="2194560"/>
            <a:ext cx="210312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268712" y="1554480"/>
            <a:ext cx="13716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68712" y="1554480"/>
            <a:ext cx="50292" cy="1298448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87584" y="1627632"/>
            <a:ext cx="1170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Evidence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87584" y="2304288"/>
            <a:ext cx="1170432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Closure pack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32918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464646"/>
                </a:solidFill>
                <a:latin typeface="Aptos"/>
              </a:rPr>
              <a:t>Example: settlement/product change → identify impacted file/process → assess SOP/system/reconciliation → assign action → test → sign-off.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640080" y="406908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828800"/>
                <a:gridCol w="4572000"/>
                <a:gridCol w="2011680"/>
              </a:tblGrid>
              <a:tr h="292608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RBI IT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Control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RBI IT Outsourcing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Third-party controls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RBI Fraud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Fraud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Investigation /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NPCI circular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UPI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Settlement / dispute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Impact review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MIS &amp; executive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One governed data model from daily operations to management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09728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097280"/>
            <a:ext cx="50292" cy="114300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170432"/>
            <a:ext cx="3182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Daily Ops Pack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1847088"/>
            <a:ext cx="3182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Files • transactions • exceptions • SLA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59" y="109728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1097280"/>
            <a:ext cx="50292" cy="114300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1" y="1170432"/>
            <a:ext cx="3182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Weekly Control Pack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1" y="1847088"/>
            <a:ext cx="3182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Ageing • RCA • recurring failures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109728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79" y="1097280"/>
            <a:ext cx="50292" cy="114300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1170432"/>
            <a:ext cx="3182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Monthly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1847088"/>
            <a:ext cx="3182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Volumes • exposure • productivity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606039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606039"/>
            <a:ext cx="50292" cy="114300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2679191"/>
            <a:ext cx="3182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Quarterly GRC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" y="3355847"/>
            <a:ext cx="3182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Controls • audit • access • BCP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59" y="2606039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59" y="2606039"/>
            <a:ext cx="50292" cy="114300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0831" y="2679191"/>
            <a:ext cx="3182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Regulatory Pack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1" y="3355847"/>
            <a:ext cx="3182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Circulars • impact • actions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2606039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79" y="2606039"/>
            <a:ext cx="50292" cy="114300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74152" y="2679191"/>
            <a:ext cx="3182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Product Scorecards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74152" y="3355847"/>
            <a:ext cx="3182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UPI / IMPS / NACH / AePS / RuPay / CTS / BBPS / NETC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645152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645152"/>
            <a:ext cx="50292" cy="914400"/>
          </a:xfrm>
          <a:prstGeom prst="rect">
            <a:avLst/>
          </a:prstGeom>
          <a:solidFill>
            <a:srgbClr val="269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4718304"/>
            <a:ext cx="1444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Success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" y="4974336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99.32%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" y="5394960"/>
            <a:ext cx="1444752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Sample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95728" y="4645152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395728" y="4645152"/>
            <a:ext cx="50292" cy="914400"/>
          </a:xfrm>
          <a:prstGeom prst="rect">
            <a:avLst/>
          </a:prstGeom>
          <a:solidFill>
            <a:srgbClr val="269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14600" y="4718304"/>
            <a:ext cx="1444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Auto-match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4600" y="4974336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96.4%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14600" y="5394960"/>
            <a:ext cx="1444752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Sample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42816" y="4645152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42816" y="4645152"/>
            <a:ext cx="50292" cy="914400"/>
          </a:xfrm>
          <a:prstGeom prst="rect">
            <a:avLst/>
          </a:prstGeom>
          <a:solidFill>
            <a:srgbClr val="C8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61688" y="4718304"/>
            <a:ext cx="1444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Exceptions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61688" y="4974336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5,832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61688" y="5394960"/>
            <a:ext cx="1444752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Sample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89904" y="4645152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89904" y="4645152"/>
            <a:ext cx="50292" cy="914400"/>
          </a:xfrm>
          <a:prstGeom prst="rect">
            <a:avLst/>
          </a:prstGeom>
          <a:solidFill>
            <a:srgbClr val="C8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08776" y="4718304"/>
            <a:ext cx="1444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SLA breaches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08776" y="4974336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14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08776" y="5394960"/>
            <a:ext cx="1444752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Sample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36992" y="4645152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936992" y="4645152"/>
            <a:ext cx="50292" cy="91440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55864" y="4718304"/>
            <a:ext cx="1444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Exposure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55864" y="4974336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₹42.6L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55864" y="5394960"/>
            <a:ext cx="1444752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Sample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784080" y="4645152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784080" y="4645152"/>
            <a:ext cx="50292" cy="91440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02952" y="4718304"/>
            <a:ext cx="1444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Automation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02952" y="4974336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66%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02952" y="5394960"/>
            <a:ext cx="1444752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Sample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Control tower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Enterprise health with drill-down from rail → cycle → case → transaction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05840"/>
            <a:ext cx="2743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005840"/>
            <a:ext cx="50292" cy="96012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1078992"/>
            <a:ext cx="2542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1335024"/>
            <a:ext cx="2542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8,42,671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1755648"/>
            <a:ext cx="254203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Today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005840"/>
            <a:ext cx="2743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005840"/>
            <a:ext cx="50292" cy="960120"/>
          </a:xfrm>
          <a:prstGeom prst="rect">
            <a:avLst/>
          </a:prstGeom>
          <a:solidFill>
            <a:srgbClr val="C8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2152" y="1078992"/>
            <a:ext cx="2542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Exceptions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1335024"/>
            <a:ext cx="2542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5,832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1755648"/>
            <a:ext cx="254203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+8% vs yesterday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005840"/>
            <a:ext cx="2560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005840"/>
            <a:ext cx="50292" cy="960120"/>
          </a:xfrm>
          <a:prstGeom prst="rect">
            <a:avLst/>
          </a:prstGeom>
          <a:solidFill>
            <a:srgbClr val="269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107899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Auto-match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1335024"/>
            <a:ext cx="235915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96.4%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1755648"/>
            <a:ext cx="2359151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Target &gt;95%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1005840"/>
            <a:ext cx="2560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52560" y="1005840"/>
            <a:ext cx="50292" cy="96012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71432" y="107899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Exposure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1432" y="1335024"/>
            <a:ext cx="235915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₹42.6L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1432" y="1755648"/>
            <a:ext cx="2359151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Sample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240280"/>
            <a:ext cx="5486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240280"/>
            <a:ext cx="50292" cy="182880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2313432"/>
            <a:ext cx="5285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Rail health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2990088"/>
            <a:ext cx="52852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UPI 99.5% | IMPS 99.1% | NACH 98.9% | AePS 99.2%
RuPay 99.4% | CTS 99.8% | BBPS 99.6% | NETC 99.7%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2240280"/>
            <a:ext cx="5440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2240280"/>
            <a:ext cx="50292" cy="1828800"/>
          </a:xfrm>
          <a:prstGeom prst="rect">
            <a:avLst/>
          </a:prstGeom>
          <a:solidFill>
            <a:srgbClr val="C8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2313432"/>
            <a:ext cx="52395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Exception ageing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1072" y="2990088"/>
            <a:ext cx="52395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&lt;4h: 2,450     4–24h: 1,780
1–3d: 1,120     &gt;3d: 482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29768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297680"/>
            <a:ext cx="50292" cy="123444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" y="4370832"/>
            <a:ext cx="3456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AI insights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" y="5047488"/>
            <a:ext cx="3456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Top root cause: missing reversal leg
Emerging risk: NACH return spike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43400" y="429768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43400" y="4297680"/>
            <a:ext cx="50292" cy="123444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62272" y="4370832"/>
            <a:ext cx="32735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GRC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62272" y="5047488"/>
            <a:ext cx="327355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5 open actions | 0 critical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4297680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46720" y="4297680"/>
            <a:ext cx="50292" cy="1234440"/>
          </a:xfrm>
          <a:prstGeom prst="rect">
            <a:avLst/>
          </a:prstGeom>
          <a:solidFill>
            <a:srgbClr val="C8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65592" y="4370832"/>
            <a:ext cx="33649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HITL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65592" y="5047488"/>
            <a:ext cx="33649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312 pending | ₹18.4L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Integration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API-first where possible; RPA/file automation for legacy and portal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0584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005840"/>
            <a:ext cx="50292" cy="438912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107899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NPCI / CHANNELS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1755648"/>
            <a:ext cx="231343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NPCI portal
SFTP / file feeds
UPI / IMPS / NACH
AePS / RuPay / CTS
BBPS / NETC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71800" y="2834640"/>
            <a:ext cx="228600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91840" y="100584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1005840"/>
            <a:ext cx="50292" cy="438912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0712" y="107899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1755648"/>
            <a:ext cx="231343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API gateway
MFT / SFTP
RPA / GUI
DB / JDBC
Events / queues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06440" y="2834640"/>
            <a:ext cx="228600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26480" y="100584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005840"/>
            <a:ext cx="50292" cy="438912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2" y="107899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BANK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1755648"/>
            <a:ext cx="231343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CBS
Payment switches
GL / settlement
DWH / lake
CRM / case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41080" y="2834640"/>
            <a:ext cx="228600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961120" y="100584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61120" y="1005840"/>
            <a:ext cx="50292" cy="438912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107899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AUTOMATIONEDGE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9992" y="1755648"/>
            <a:ext cx="231343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Orchestrator
Automation agents
Recon engine
AI Agent Hub
Control Tower
Audit / GRC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650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1">
                <a:solidFill>
                  <a:srgbClr val="464646"/>
                </a:solidFill>
                <a:latin typeface="Aptos"/>
              </a:rPr>
              <a:t>Security: TLS/mTLS, secrets vault, RBAC, segmentation, least privilege, production approval gates and audit logging.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Detailed integration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System-of-record ownership and interface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914400"/>
          <a:ext cx="1147572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474720"/>
                <a:gridCol w="2651760"/>
                <a:gridCol w="3337560"/>
              </a:tblGrid>
              <a:tr h="574040"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System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Data / purpose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Pattern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Access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NPCI portals / SFTP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Files, settlement,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MFT/SFTP + RPA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Inbound/outbound controlled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UPI / IMPS switches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Txn status, logs, reversals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API / DB / events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Read + approved action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Customer/account postings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API / DB / RPA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Read; controlled posting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GL / settlement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Balances, entries, suspense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API / DB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Read + approved adjustment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DWH / lake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History,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SQL / ETL /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Read-only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CRM / Case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Complaints, disputes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API / connector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Create/update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GRC / ECM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Controls,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API / connector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Evidence/status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IAM / SIEM / Vault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Identity, logs, secrets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Enterprise integration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Mandatory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Security, risk and regulatory-by-design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Bank retains accountability; automation operates within bounded authority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05156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051560"/>
            <a:ext cx="50292" cy="155448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12471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1801367"/>
            <a:ext cx="2359151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Minimize, mask, encrypt, classify, retain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05156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1051560"/>
            <a:ext cx="50292" cy="155448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2152" y="112471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801367"/>
            <a:ext cx="2359151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RBAC, least privilege, vault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05156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051560"/>
            <a:ext cx="50292" cy="1554480"/>
          </a:xfrm>
          <a:prstGeom prst="rect">
            <a:avLst/>
          </a:prstGeom>
          <a:solidFill>
            <a:srgbClr val="C8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112471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SoD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1801367"/>
            <a:ext cx="2359151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Maker-checker; separate approve/execute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105156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1051560"/>
            <a:ext cx="50292" cy="1554480"/>
          </a:xfrm>
          <a:prstGeom prst="rect">
            <a:avLst/>
          </a:prstGeom>
          <a:solidFill>
            <a:srgbClr val="C8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1432" y="112471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AI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1801367"/>
            <a:ext cx="2359151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Grounding, confidence, drift, override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297180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2971800"/>
            <a:ext cx="50292" cy="155448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304495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Auditability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3721608"/>
            <a:ext cx="2359151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Input → recommendation → approval → action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297180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83280" y="2971800"/>
            <a:ext cx="50292" cy="155448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02152" y="304495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Resilience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02152" y="3721608"/>
            <a:ext cx="2359151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Retry, fallback, DR, manual continuity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297180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2971800"/>
            <a:ext cx="50292" cy="155448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6792" y="304495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Third-party 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3721608"/>
            <a:ext cx="2359151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Risk assessment, supervisory access, exit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297180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52560" y="2971800"/>
            <a:ext cx="50292" cy="155448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71432" y="304495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Customer protection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71432" y="3721608"/>
            <a:ext cx="2359151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TAT, evidence, escalation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2578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0" b="1">
                <a:solidFill>
                  <a:srgbClr val="C8460A"/>
                </a:solidFill>
                <a:latin typeface="Aptos"/>
              </a:rPr>
              <a:t>No agent receives unrestricted production authority. Material financial, customer-impacting and regulatory decisions remain subject to bank-defined approval controls.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RBI / NPCI governance 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Key governance controls embedded in the workbench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914400"/>
          <a:ext cx="11475719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977639"/>
                <a:gridCol w="4663440"/>
              </a:tblGrid>
              <a:tr h="807720">
                <a:tc>
                  <a:txBody>
                    <a:bodyPr/>
                    <a:lstStyle/>
                    <a:p>
                      <a:pPr>
                        <a:defRPr sz="7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Basis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Expectation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Workbench control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RBI IT Governance Directions 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IT governance, risk, controls, assurance, resilience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Governance dashboard + control testing + audit 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RBI IT Outsourcing Directions 2023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Bank accountability, risk, security, audit, exit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Scoped access + vendor risk + exit strategy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RBI Fraud Risk Directions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Prevention, early detection, reporting, oversight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Fraud/exception agent + EWS + case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BBPS Directions 2024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Operating framework and customer protection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Biller/dispute/TAT controls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NPCI product rules/circulars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Product/cycle/file/settlement/dispute obligations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Configurable controls + regulatory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592531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Implementation alignment view, not legal advice; latest applicability must be confirmed by bank Compliance / Legal.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GRC control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Example control library for NPCI operations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914400"/>
          <a:ext cx="1147572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828800"/>
                <a:gridCol w="2468880"/>
                <a:gridCol w="2926080"/>
                <a:gridCol w="3657600"/>
              </a:tblGrid>
              <a:tr h="49045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File completeness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Expected vs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File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Daily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Duplicate prevention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Hash / metadata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Validation Agent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Every cycle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Reconciliation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NPCI ↔ CBS/GL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Recon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Every 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C-04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Settlement variance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Threshold + approval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Settlement Agent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Every cycle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Exception ageing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SLA bands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Exception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Continuous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Dispute evidence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Evidence completeness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Dispute Agent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Per case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Circular impact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Impact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Regulatory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As issued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C-08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AI governance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Confidence / override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AI Governance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Weekly/Monthly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Access / SoD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RBAC + maker-checker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IAM/GRC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Continuous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6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C-10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Audit evidence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End-to-end trace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Audit Agent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Continuous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Business case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Illustrative approval model — replace with bank-validated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960120"/>
          <a:ext cx="114757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474720"/>
                <a:gridCol w="5074920"/>
              </a:tblGrid>
              <a:tr h="5715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Assumption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Illustrative baseline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Implication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NPCI workload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~42 FTE equivalent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55% effort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Loaded cost / FTE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₹18L/year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~₹4.2 Cr productivity value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Control / leakage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₹1.0–1.5 Cr/year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Lower variance, suspense, duplicates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Platform + implementation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₹3.1 Cr Year 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Sizing after discovery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Infra / security / DR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₹0.6 Cr Year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Depends on bank standards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Support / CoE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₹0.6 Cr Year 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Year-1 run capability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Annual benefit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~₹5.6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Illustrative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57424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Aptos"/>
              </a:rPr>
              <a:t>These are assumptions, not NPCI-mandated values. Final ROI should use 12 months of bank volumes, FTE effort, exception rates, financial exposure and current vendor/license costs.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Cost-benefit analysis &amp; ROI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Conservative approval case with staged investment and measurable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96012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960120"/>
            <a:ext cx="50292" cy="123444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03327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Productivity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1289304"/>
            <a:ext cx="2313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₹4.2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09928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55% effort reduction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9272" y="96012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9272" y="960120"/>
            <a:ext cx="50292" cy="123444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38144" y="103327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Control / financial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8144" y="1289304"/>
            <a:ext cx="2313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₹1.0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38144" y="1709928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Lower leakage / suspense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35624" y="96012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35624" y="960120"/>
            <a:ext cx="50292" cy="123444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103327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Customer / SLA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1289304"/>
            <a:ext cx="2313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₹0.4 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1709928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TAT / penalty avoidance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1976" y="96012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51976" y="960120"/>
            <a:ext cx="50292" cy="1234440"/>
          </a:xfrm>
          <a:prstGeom prst="rect">
            <a:avLst/>
          </a:prstGeom>
          <a:solidFill>
            <a:srgbClr val="269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0848" y="103327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Total annual benefit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0848" y="1289304"/>
            <a:ext cx="2313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₹5.6 Cr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0848" y="1709928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Illustrative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260604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2606040"/>
            <a:ext cx="50292" cy="123444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267919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2935224"/>
            <a:ext cx="2313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₹1.4 Cr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3355848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Enterprise components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19272" y="260604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19272" y="2606040"/>
            <a:ext cx="50292" cy="123444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38144" y="267919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Implementation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38144" y="2935224"/>
            <a:ext cx="2313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₹1.7 Cr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38144" y="3355848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Discovery/build/test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35624" y="260604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35624" y="2606040"/>
            <a:ext cx="50292" cy="123444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54496" y="267919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Infra &amp; security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54496" y="2935224"/>
            <a:ext cx="2313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₹0.6 Cr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4496" y="3355848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HA/DR/integration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51976" y="260604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51976" y="2606040"/>
            <a:ext cx="50292" cy="123444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70848" y="267919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Support / CoE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70848" y="2935224"/>
            <a:ext cx="2313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₹0.6 Cr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70848" y="3355848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Year-1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4360" y="4480560"/>
            <a:ext cx="2514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4360" y="4480560"/>
            <a:ext cx="50292" cy="96012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232" y="455371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Year-1 investment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" y="4809744"/>
            <a:ext cx="2313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₹4.3 Cr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" y="5230368"/>
            <a:ext cx="231343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Illustrative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383279" y="4480560"/>
            <a:ext cx="2514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383279" y="4480560"/>
            <a:ext cx="50292" cy="960120"/>
          </a:xfrm>
          <a:prstGeom prst="rect">
            <a:avLst/>
          </a:prstGeom>
          <a:solidFill>
            <a:srgbClr val="269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02151" y="455371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Year-1 benefit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02151" y="4809744"/>
            <a:ext cx="2313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₹5.6 Cr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02151" y="5230368"/>
            <a:ext cx="231343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Illustrative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72200" y="4480560"/>
            <a:ext cx="2514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72200" y="4480560"/>
            <a:ext cx="50292" cy="96012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91072" y="455371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Net benefit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91072" y="4809744"/>
            <a:ext cx="2313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₹1.3 Cr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91072" y="5230368"/>
            <a:ext cx="231343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Before tax/financing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961119" y="4480560"/>
            <a:ext cx="2514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961119" y="4480560"/>
            <a:ext cx="50292" cy="960120"/>
          </a:xfrm>
          <a:prstGeom prst="rect">
            <a:avLst/>
          </a:prstGeom>
          <a:solidFill>
            <a:srgbClr val="269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79992" y="4553712"/>
            <a:ext cx="2313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Year-1 ROI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79992" y="4809744"/>
            <a:ext cx="2313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~30%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79992" y="5230368"/>
            <a:ext cx="231343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Illustrative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" y="577900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1">
                <a:solidFill>
                  <a:srgbClr val="464646"/>
                </a:solidFill>
                <a:latin typeface="Aptos"/>
              </a:rPr>
              <a:t>Three-year view: cumulative benefits expected to exceed platform + implementation + run costs; stage gates protect investment.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Value realization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Build once, scale across rails and progressively increase agent autonomy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188720"/>
            <a:ext cx="169164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188720"/>
            <a:ext cx="50292" cy="388620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261872"/>
            <a:ext cx="1490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0.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517904"/>
            <a:ext cx="1490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2–3 wks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1938528"/>
            <a:ext cx="1490472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Baseline, files, systems, controls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03120" y="3063240"/>
            <a:ext cx="164592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313432" y="1188720"/>
            <a:ext cx="169164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3432" y="1188720"/>
            <a:ext cx="50292" cy="388620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32304" y="1261872"/>
            <a:ext cx="1490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1. Quick wins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32304" y="1517904"/>
            <a:ext cx="1490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6–10 wks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2304" y="1938528"/>
            <a:ext cx="1490472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File monitoring, validation, MIS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05072" y="3063240"/>
            <a:ext cx="164592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215384" y="1188720"/>
            <a:ext cx="169164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15384" y="1188720"/>
            <a:ext cx="50292" cy="388620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1261872"/>
            <a:ext cx="1490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2. Reconciliation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6" y="1517904"/>
            <a:ext cx="1490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8–12 wks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6" y="1938528"/>
            <a:ext cx="1490472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UPI / IMPS / NACH + settlement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07024" y="3063240"/>
            <a:ext cx="164592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117336" y="1188720"/>
            <a:ext cx="169164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17336" y="1188720"/>
            <a:ext cx="50292" cy="388620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6208" y="1261872"/>
            <a:ext cx="1490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3. Agentic 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1517904"/>
            <a:ext cx="1490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10–16 wks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1938528"/>
            <a:ext cx="1490472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Investigation, disputes, RCA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808976" y="3063240"/>
            <a:ext cx="164592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019288" y="1188720"/>
            <a:ext cx="169164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19288" y="1188720"/>
            <a:ext cx="50292" cy="388620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1261872"/>
            <a:ext cx="1490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4. Control Tower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1517904"/>
            <a:ext cx="1490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6–10 wks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1938528"/>
            <a:ext cx="1490472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KPI, GRC, circular intelligence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710928" y="3063240"/>
            <a:ext cx="164591" cy="0"/>
          </a:xfrm>
          <a:prstGeom prst="line">
            <a:avLst/>
          </a:prstGeom>
          <a:ln w="19050">
            <a:solidFill>
              <a:srgbClr val="F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921240" y="1188720"/>
            <a:ext cx="169164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21240" y="1188720"/>
            <a:ext cx="50292" cy="3886200"/>
          </a:xfrm>
          <a:prstGeom prst="rect">
            <a:avLst/>
          </a:prstGeom>
          <a:solidFill>
            <a:srgbClr val="3C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40112" y="1261872"/>
            <a:ext cx="1490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5. Scale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40112" y="1517904"/>
            <a:ext cx="1490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Ongoing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40112" y="1938528"/>
            <a:ext cx="1490472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Additional rails / use cases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541324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0" b="1">
                <a:solidFill>
                  <a:srgbClr val="464646"/>
                </a:solidFill>
                <a:latin typeface="Aptos"/>
              </a:rPr>
              <a:t>Governance gate after each phase: security → model risk → UAT → compliance → production readiness → benefits baseline.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Hardware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Reference production sizing for a large private-sector bank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914400"/>
          <a:ext cx="1147572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669280"/>
                <a:gridCol w="3703320"/>
              </a:tblGrid>
              <a:tr h="563880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Indicative requirement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HA/DR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2–4 nodes; 8–16 vCPU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HA cluster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RPA execution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10–30 concurrent runners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N+1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AI agent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2–4 nodes; 16–32 vCPU; 64–128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N+1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Data / reconciliation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16–32 vCPU; 128–256 GB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Cluster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Enterprise DB; 8–16 vCPU; 64–128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HA + backup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Evidence store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5–20 TB start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Replicated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API gateway + MFT/SFTP + queues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Vault, SIEM, IAM, WAF, EDR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617220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E6E6E"/>
                </a:solidFill>
                <a:latin typeface="Aptos"/>
              </a:rPr>
              <a:t>Final sizing follows bank workload, concurrency, retention and enterprise infrastructure standards.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Software / platform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Logical stack for production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914400"/>
            <a:ext cx="108356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987552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26918"/>
                </a:solidFill>
                <a:latin typeface="Aptos"/>
              </a:rPr>
              <a:t>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987552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64646"/>
                </a:solidFill>
                <a:latin typeface="Aptos"/>
              </a:rPr>
              <a:t>Web workbench • dashboards • role-based views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517904"/>
            <a:ext cx="10835640" cy="438912"/>
          </a:xfrm>
          <a:prstGeom prst="round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591056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26918"/>
                </a:solidFill>
                <a:latin typeface="Aptos"/>
              </a:rPr>
              <a:t>Control tower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591056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64646"/>
                </a:solidFill>
                <a:latin typeface="Aptos"/>
              </a:rPr>
              <a:t>KPI • alerts • SLA • audit • GRC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121408"/>
            <a:ext cx="108356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19456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C69AF"/>
                </a:solidFill>
                <a:latin typeface="Aptos"/>
              </a:rPr>
              <a:t>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19456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64646"/>
                </a:solidFill>
                <a:latin typeface="Aptos"/>
              </a:rPr>
              <a:t>Orchestrator • workflows • queues • RPA workers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724912"/>
            <a:ext cx="10835640" cy="438912"/>
          </a:xfrm>
          <a:prstGeom prst="round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798064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C69AF"/>
                </a:solidFill>
                <a:latin typeface="Aptos"/>
              </a:rPr>
              <a:t>Agentic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27980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64646"/>
                </a:solidFill>
                <a:latin typeface="Aptos"/>
              </a:rPr>
              <a:t>Agent hub • retrieval • policy • tool calling • evaluation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328416"/>
            <a:ext cx="108356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40156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26918"/>
                </a:solidFill>
                <a:latin typeface="Aptos"/>
              </a:rPr>
              <a:t>Data / reconciliation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40156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64646"/>
                </a:solidFill>
                <a:latin typeface="Aptos"/>
              </a:rPr>
              <a:t>Matching engine • rules • tolerances • analytics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931920"/>
            <a:ext cx="10835640" cy="438912"/>
          </a:xfrm>
          <a:prstGeom prst="round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005072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C69AF"/>
                </a:solidFill>
                <a:latin typeface="Aptos"/>
              </a:rPr>
              <a:t>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4005072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64646"/>
                </a:solidFill>
                <a:latin typeface="Aptos"/>
              </a:rPr>
              <a:t>API gateway • MFT/SFTP • DB • events • connectors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535424"/>
            <a:ext cx="108356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608576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83737"/>
                </a:solidFill>
                <a:latin typeface="Aptos"/>
              </a:rPr>
              <a:t>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4608576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64646"/>
                </a:solidFill>
                <a:latin typeface="Aptos"/>
              </a:rPr>
              <a:t>IAM • vault • SIEM • EDR • encryption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138928"/>
            <a:ext cx="10835640" cy="438912"/>
          </a:xfrm>
          <a:prstGeom prst="round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21208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Infrastructure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521208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64646"/>
                </a:solidFill>
                <a:latin typeface="Aptos"/>
              </a:rPr>
              <a:t>VM/container • DB • storage • backup • DR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AutomationEdge component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Translate business requirements into reusable platform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914400"/>
          <a:ext cx="114757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663440"/>
                <a:gridCol w="4069080"/>
              </a:tblGrid>
              <a:tr h="518160"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AutomationEdge capability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Primary role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File 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RPA / Universal Automation Agent / workflows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Acquire, validate, archive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Orchestration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AutomationEdge Orchestrator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Queues, retries, schedules, SLAs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Legacy / portal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RPA + connectors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GUI/API/file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Reconciliation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Workflow + data processing + AI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Match, explain, route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Document /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Document automation / IDP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Extract, classify, package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Agentic investigation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AI Agent Hub / orchestration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Reason, retrieve, recommend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MIS /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Control Tower /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KPIs, drill-down, commentary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GRC / audit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Workflow + evidence repository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Controls, approvals, audit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58338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AutomationEdge publicly positions its BFSI offering around GenAI + RPA, legacy integration and connector-based automation.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Non-functional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Bank-grade availability, security, performance and auditability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05156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051560"/>
            <a:ext cx="50292" cy="155448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12471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Availability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1801367"/>
            <a:ext cx="2359151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≥99.9% target; no single point of failure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05156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1051560"/>
            <a:ext cx="50292" cy="155448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2152" y="112471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801367"/>
            <a:ext cx="2359151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Cycle processing within agreed window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05156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051560"/>
            <a:ext cx="50292" cy="155448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112471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Scalability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1801367"/>
            <a:ext cx="2359151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Horizontal workers; configurable concurrency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105156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1051560"/>
            <a:ext cx="50292" cy="155448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1432" y="112471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1801367"/>
            <a:ext cx="2359151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Encryption, RBAC, vault, secure SDLC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01752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017520"/>
            <a:ext cx="50292" cy="155448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309067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Auditability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3767328"/>
            <a:ext cx="2359151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End-to-end tamper-evident evidence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301752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83280" y="3017520"/>
            <a:ext cx="50292" cy="155448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02152" y="309067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Resilience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02152" y="3767328"/>
            <a:ext cx="2359151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Retry, checkpoint, replay, DR, manual fallback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01752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3017520"/>
            <a:ext cx="50292" cy="155448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6792" y="309067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Observability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3767328"/>
            <a:ext cx="2359151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Agent/workflow/integration/business monitoring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301752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52560" y="3017520"/>
            <a:ext cx="50292" cy="155448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71432" y="3090672"/>
            <a:ext cx="235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Maintainability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71432" y="3767328"/>
            <a:ext cx="2359151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Configuration over custom code; reusable templates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32180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Aptos"/>
              </a:rPr>
              <a:t>Final NFRs are governed by the bank enterprise architecture, information-security and resilience standards.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Implementation governance &amp; RACI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Clear ownership prevents automation from becoming an unmanaged black 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051560"/>
          <a:ext cx="1124712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25880"/>
                <a:gridCol w="1417320"/>
                <a:gridCol w="1920240"/>
                <a:gridCol w="1143000"/>
                <a:gridCol w="3063240"/>
              </a:tblGrid>
              <a:tr h="492760"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Workstream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COO/Ops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CIO/IT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Risk/Compliance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CISO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AutomationEdge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Business case / funding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Process / controls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A/R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AI governance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Security /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A/R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UAT / readiness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A/R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Benefits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Run / CoE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A/R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57790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Aptos"/>
              </a:rPr>
              <a:t>R = Responsible | A = Accountable | C = Consulted. Bank retains final accountability for regulated operations and customer outcomes.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POC / pilot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Prove value on representative control-heavy use cases before enterprise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097280"/>
            <a:ext cx="3337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097280"/>
            <a:ext cx="50292" cy="201168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170432"/>
            <a:ext cx="31363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POC 1 — UPI reconciliation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1847088"/>
            <a:ext cx="3136391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NPCI ↔ CBS ↔ switch matching; exception classification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743200"/>
            <a:ext cx="2926080" cy="246888"/>
          </a:xfrm>
          <a:prstGeom prst="roundRect">
            <a:avLst/>
          </a:prstGeom>
          <a:solidFill>
            <a:srgbClr val="FFEDE1"/>
          </a:solidFill>
          <a:ln>
            <a:solidFill>
              <a:srgbClr val="FF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70632"/>
            <a:ext cx="2926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C8460A"/>
                </a:solidFill>
                <a:latin typeface="Aptos"/>
              </a:rPr>
              <a:t>Auto-match &gt;95%; 50%+ investigation reduction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59" y="1097280"/>
            <a:ext cx="3337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59" y="1097280"/>
            <a:ext cx="50292" cy="201168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1" y="1170432"/>
            <a:ext cx="31363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POC 2 — NACH returns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1" y="1847088"/>
            <a:ext cx="3136391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File ingestion; validation; return classification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53128" y="2743200"/>
            <a:ext cx="2926080" cy="246888"/>
          </a:xfrm>
          <a:prstGeom prst="roundRect">
            <a:avLst/>
          </a:prstGeom>
          <a:solidFill>
            <a:srgbClr val="FFEDE1"/>
          </a:solidFill>
          <a:ln>
            <a:solidFill>
              <a:srgbClr val="FF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2770632"/>
            <a:ext cx="2926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C8460A"/>
                </a:solidFill>
                <a:latin typeface="Aptos"/>
              </a:rPr>
              <a:t>80%+ eligible STP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1097280"/>
            <a:ext cx="3337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79" y="1097280"/>
            <a:ext cx="50292" cy="201168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1170432"/>
            <a:ext cx="31363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E6E6E"/>
                </a:solidFill>
                <a:latin typeface="Aptos"/>
              </a:rPr>
              <a:t>POC 3 — Dispute investigation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4152" y="1847088"/>
            <a:ext cx="3136391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0">
                <a:solidFill>
                  <a:srgbClr val="464646"/>
                </a:solidFill>
                <a:latin typeface="Aptos"/>
              </a:rPr>
              <a:t>Evidence; reconstruction; case pack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56448" y="2743200"/>
            <a:ext cx="2926080" cy="246888"/>
          </a:xfrm>
          <a:prstGeom prst="roundRect">
            <a:avLst/>
          </a:prstGeom>
          <a:solidFill>
            <a:srgbClr val="FFEDE1"/>
          </a:solidFill>
          <a:ln>
            <a:solidFill>
              <a:srgbClr val="FF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6448" y="2770632"/>
            <a:ext cx="2926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C8460A"/>
                </a:solidFill>
                <a:latin typeface="Aptos"/>
              </a:rPr>
              <a:t>50%+ preparation reduction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70332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1C"/>
                </a:solidFill>
                <a:latin typeface="Aptos"/>
              </a:rPr>
              <a:t>POC success gates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60">
                <a:solidFill>
                  <a:srgbClr val="464646"/>
                </a:solidFill>
                <a:latin typeface="Aptos"/>
              </a:defRPr>
            </a:pPr>
            <a:r>
              <a:t>Accuracy / completeness</a:t>
            </a:r>
          </a:p>
          <a:p>
            <a:pPr>
              <a:spcAft>
                <a:spcPts val="500"/>
              </a:spcAft>
              <a:defRPr sz="960">
                <a:solidFill>
                  <a:srgbClr val="464646"/>
                </a:solidFill>
                <a:latin typeface="Aptos"/>
              </a:defRPr>
            </a:pPr>
            <a:r>
              <a:t>Agent evidence grounding</a:t>
            </a:r>
          </a:p>
          <a:p>
            <a:pPr>
              <a:spcAft>
                <a:spcPts val="500"/>
              </a:spcAft>
              <a:defRPr sz="960">
                <a:solidFill>
                  <a:srgbClr val="464646"/>
                </a:solidFill>
                <a:latin typeface="Aptos"/>
              </a:defRPr>
            </a:pPr>
            <a:r>
              <a:t>HITL turnaround</a:t>
            </a:r>
          </a:p>
          <a:p>
            <a:pPr>
              <a:spcAft>
                <a:spcPts val="500"/>
              </a:spcAft>
              <a:defRPr sz="960">
                <a:solidFill>
                  <a:srgbClr val="464646"/>
                </a:solidFill>
                <a:latin typeface="Aptos"/>
              </a:defRPr>
            </a:pPr>
            <a:r>
              <a:t>Security / audit / resilience</a:t>
            </a:r>
          </a:p>
          <a:p>
            <a:pPr>
              <a:spcAft>
                <a:spcPts val="500"/>
              </a:spcAft>
              <a:defRPr sz="960">
                <a:solidFill>
                  <a:srgbClr val="464646"/>
                </a:solidFill>
                <a:latin typeface="Aptos"/>
              </a:defRPr>
            </a:pPr>
            <a:r>
              <a:t>Benefits vs baseline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4069080"/>
            <a:ext cx="5029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60">
                <a:solidFill>
                  <a:srgbClr val="464646"/>
                </a:solidFill>
                <a:latin typeface="Aptos"/>
              </a:defRPr>
            </a:pPr>
            <a:r>
              <a:t>No material customer-impacting error</a:t>
            </a:r>
          </a:p>
          <a:p>
            <a:pPr>
              <a:spcAft>
                <a:spcPts val="500"/>
              </a:spcAft>
              <a:defRPr sz="960">
                <a:solidFill>
                  <a:srgbClr val="464646"/>
                </a:solidFill>
                <a:latin typeface="Aptos"/>
              </a:defRPr>
            </a:pPr>
            <a:r>
              <a:t>No uncontrolled production action</a:t>
            </a:r>
          </a:p>
          <a:p>
            <a:pPr>
              <a:spcAft>
                <a:spcPts val="500"/>
              </a:spcAft>
              <a:defRPr sz="960">
                <a:solidFill>
                  <a:srgbClr val="464646"/>
                </a:solidFill>
                <a:latin typeface="Aptos"/>
              </a:defRPr>
            </a:pPr>
            <a:r>
              <a:t>Critical actions auditable</a:t>
            </a:r>
          </a:p>
          <a:p>
            <a:pPr>
              <a:spcAft>
                <a:spcPts val="500"/>
              </a:spcAft>
              <a:defRPr sz="960">
                <a:solidFill>
                  <a:srgbClr val="464646"/>
                </a:solidFill>
                <a:latin typeface="Aptos"/>
              </a:defRPr>
            </a:pPr>
            <a:r>
              <a:t>Operations acceptance</a:t>
            </a:r>
          </a:p>
          <a:p>
            <a:pPr>
              <a:spcAft>
                <a:spcPts val="500"/>
              </a:spcAft>
              <a:defRPr sz="960">
                <a:solidFill>
                  <a:srgbClr val="464646"/>
                </a:solidFill>
                <a:latin typeface="Aptos"/>
              </a:defRPr>
            </a:pPr>
            <a:r>
              <a:t>Production readiness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Key risks &amp; mitigations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Design for failure, explainability and controlled autonomy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005840"/>
          <a:ext cx="1138428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834640"/>
                <a:gridCol w="5989320"/>
              </a:tblGrid>
              <a:tr h="588645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Incorrect AI recommendation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Financial/customer impact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Grounding, confidence, rules, HITL, 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Automation failure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SLA / settlement delay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Retry, checkpoint, fallback, manual runbook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Data leakage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Regulatory/reputation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Minimize, mask, access control, approved model boundary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Automation bias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Poor decisions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Override monitoring, training, mandatory evidence review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Model/rule drift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Control degradation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Backtesting, monitoring, controlled releases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Third-party dependency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Concentration risk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Risk assessment, resilience, exit plan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NPCI change missed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Compliance / penalty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Regulatory agent + impact workflow + sign-off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59253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0" b="1">
                <a:solidFill>
                  <a:srgbClr val="C8460A"/>
                </a:solidFill>
                <a:latin typeface="Aptos"/>
              </a:rPr>
              <a:t>Recommended autonomy posture: Assist → Recommend → Controlled Execute → Scale only after measured evidence.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Appendix — 60-activity automation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Condensed coverage of the previously assessed NPCI operations backlog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914400"/>
          <a:ext cx="111556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97680"/>
                <a:gridCol w="3840480"/>
                <a:gridCol w="1188720"/>
              </a:tblGrid>
              <a:tr h="473825"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Portfolio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Automation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File Mgmt 1–5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Monitor, download, validate, duplicate, archive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RPA / Control Tower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UPI 6–12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Recon, settlement, reversals, exceptions, disputes, MIS, RCA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RPA + AI + Agents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P1/P2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IMPS 13–18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Settlement, recon, reversals, timeout, disputes, MIS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RPA + AI + Agents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P1/P2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NACH 19–26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Files, debit/credit, returns, mandates, recon, analytics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RPA + AI + Agents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P1/P2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AePS 27–32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Settlement, recon, BC, reversals, complaints,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RPA + AI + Agents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P1/P2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RuPay 33–38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Settlement, ATM, chargeback, refunds, fees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RPA + AI + Agents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P1/P2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CTS 39–43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Presentment, outward, returns, recon, image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RPA +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P1/P2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BBPS 44–48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Transaction/settlement/biller/refund/dispute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RPA + AI + Agents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P1/P2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NETC 49–54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Settlement, recon, duplicate, dispute, tag, exceptions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RPA + AI + Agents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P1/P2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30"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Cross-NPCI 55–60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Suspense, ageing, circulars, impact, MIS, audit evidence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Agentic + GenAI + RPA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P1/P2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Appendix — sample operational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Synthetic test data for workbench demonstrations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960120"/>
          <a:ext cx="90525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554480"/>
                <a:gridCol w="1463040"/>
                <a:gridCol w="1325880"/>
                <a:gridCol w="1965960"/>
                <a:gridCol w="1508760"/>
              </a:tblGrid>
              <a:tr h="487680"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Rail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Txn volume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Exceptions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Success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Settlement value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SLA breaches</a:t>
                      </a:r>
                    </a:p>
                  </a:txBody>
                  <a:tcPr>
                    <a:solidFill>
                      <a:srgbClr val="F2691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UPI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412,538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2,420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99.5%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₹18.4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IMPS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126,904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1,040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99.1%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₹9.8 Cr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NACH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108,772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98.9%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₹6.2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AePS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34,628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410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99.2%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₹1.4 Cr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RuPay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28,416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99.4%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₹2.1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CTS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21,389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210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99.8%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₹0.9 Cr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BBPS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8,421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99.6%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₹0.7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NETC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2,603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542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99.7%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₹0.3 Cr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464646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55778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>
                <a:solidFill>
                  <a:srgbClr val="464646"/>
                </a:solidFill>
                <a:latin typeface="Aptos"/>
              </a:rPr>
              <a:t>Sample data is synthetic and only demonstrates UI/UX, dashboard logic and KPI calculations. It is not bank or NPCI production data.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Aptos"/>
              </a:rPr>
              <a:t>AutomationEdge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E6E6E"/>
                </a:solidFill>
                <a:latin typeface="Aptos"/>
              </a:rPr>
              <a:t>Solution Consulting |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88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C1C"/>
                </a:solidFill>
                <a:latin typeface="Aptos"/>
              </a:rPr>
              <a:t>Appendix — regulatory &amp; solution reference basis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429768"/>
            <a:ext cx="8595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E6E6E"/>
                </a:solidFill>
                <a:latin typeface="Aptos"/>
              </a:rPr>
              <a:t>Sources used for governance positioning and platform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1645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  <a:latin typeface="Aptos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7315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6E6E6E"/>
                </a:solidFill>
                <a:latin typeface="Aptos"/>
              </a:rPr>
              <a:t>Confidential | Illustrative proposal | Validate assumptions in 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565392"/>
            <a:ext cx="2468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6E6E6E"/>
                </a:solidFill>
                <a:latin typeface="Aptos"/>
              </a:rPr>
              <a:t>NPCI Unified Workbench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1C"/>
                </a:solidFill>
                <a:latin typeface="Aptos"/>
              </a:rPr>
              <a:t>RBI governance basis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28016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464646"/>
                </a:solidFill>
                <a:latin typeface="Aptos"/>
              </a:defRPr>
            </a:pPr>
            <a:r>
              <a:t>RBI — Master Direction on Information Technology Governance, Risk, Controls and Assurance Practices, 2023.</a:t>
            </a:r>
          </a:p>
          <a:p>
            <a:pPr>
              <a:spcAft>
                <a:spcPts val="500"/>
              </a:spcAft>
              <a:defRPr sz="919">
                <a:solidFill>
                  <a:srgbClr val="464646"/>
                </a:solidFill>
                <a:latin typeface="Aptos"/>
              </a:defRPr>
            </a:pPr>
            <a:r>
              <a:t>RBI — Master Direction on Outsourcing of Information Technology Services, 2023.</a:t>
            </a:r>
          </a:p>
          <a:p>
            <a:pPr>
              <a:spcAft>
                <a:spcPts val="500"/>
              </a:spcAft>
              <a:defRPr sz="919">
                <a:solidFill>
                  <a:srgbClr val="464646"/>
                </a:solidFill>
                <a:latin typeface="Aptos"/>
              </a:defRPr>
            </a:pPr>
            <a:r>
              <a:t>RBI — Master Directions on Fraud Risk Management for Commercial Banks and AIFIs, 2024.</a:t>
            </a:r>
          </a:p>
          <a:p>
            <a:pPr>
              <a:spcAft>
                <a:spcPts val="500"/>
              </a:spcAft>
              <a:defRPr sz="919">
                <a:solidFill>
                  <a:srgbClr val="464646"/>
                </a:solidFill>
                <a:latin typeface="Aptos"/>
              </a:defRPr>
            </a:pPr>
            <a:r>
              <a:t>RBI — Master Direction on Bharat Bill Payment System, 2024.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46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1C"/>
                </a:solidFill>
                <a:latin typeface="Aptos"/>
              </a:rPr>
              <a:t>Solution / operating basis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11880"/>
            <a:ext cx="10698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464646"/>
                </a:solidFill>
                <a:latin typeface="Aptos"/>
              </a:defRPr>
            </a:pPr>
            <a:r>
              <a:t>AutomationEdge BFSI solution positioning: GenAI-powered automation, RPA, legacy integration and connector ecosystem.</a:t>
            </a:r>
          </a:p>
          <a:p>
            <a:pPr>
              <a:spcAft>
                <a:spcPts val="500"/>
              </a:spcAft>
              <a:defRPr sz="919">
                <a:solidFill>
                  <a:srgbClr val="464646"/>
                </a:solidFill>
                <a:latin typeface="Aptos"/>
              </a:defRPr>
            </a:pPr>
            <a:r>
              <a:t>NPCI product-specific circulars, participant rules, settlement processes and operating communications must be validated during discovery.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66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C8460A"/>
                </a:solidFill>
                <a:latin typeface="Aptos"/>
              </a:rPr>
              <a:t>Important: exact NPCI file formats, cut-offs, settlement cycles, TATs, participant obligations and current circulars are not assumed here. Production design includes a controlled regulatory validation step.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6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Let the business flow — with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NPCI Unified Operations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51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Agentic AI • RPA • Reconciliation • GRC • MIS • Human-in-the-Loop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97763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Decision requested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389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Approve Phase 0 Discovery &amp; POC to validate baseline, controls, architecture and benefits.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5321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ptos"/>
              </a:rPr>
              <a:t>AutomationEdge Solution Consulting | Confidential |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